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4171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5.png"/><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7.png"/><Relationship Id="rId5" Type="http://schemas.openxmlformats.org/officeDocument/2006/relationships/image" Target="../media/image7.png"/><Relationship Id="rId10" Type="http://schemas.openxmlformats.org/officeDocument/2006/relationships/image" Target="../media/image16.png"/><Relationship Id="rId4" Type="http://schemas.openxmlformats.org/officeDocument/2006/relationships/image" Target="../media/image9.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9.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56"/>
        </a:solidFill>
        <a:effectLst/>
      </p:bgPr>
    </p:bg>
    <p:spTree>
      <p:nvGrpSpPr>
        <p:cNvPr id="1" name=""/>
        <p:cNvGrpSpPr/>
        <p:nvPr/>
      </p:nvGrpSpPr>
      <p:grpSpPr>
        <a:xfrm>
          <a:off x="0" y="0"/>
          <a:ext cx="0" cy="0"/>
          <a:chOff x="0" y="0"/>
          <a:chExt cx="0" cy="0"/>
        </a:xfrm>
      </p:grpSpPr>
      <p:sp>
        <p:nvSpPr>
          <p:cNvPr id="2" name="Shape 0"/>
          <p:cNvSpPr/>
          <p:nvPr/>
        </p:nvSpPr>
        <p:spPr>
          <a:xfrm>
            <a:off x="7360920" y="2880360"/>
            <a:ext cx="5522976" cy="3931920"/>
          </a:xfrm>
          <a:prstGeom prst="ellipse">
            <a:avLst/>
          </a:prstGeom>
          <a:solidFill>
            <a:srgbClr val="12A594">
              <a:alpha val="8000"/>
            </a:srgbClr>
          </a:solidFill>
          <a:ln/>
        </p:spPr>
      </p:sp>
      <p:sp>
        <p:nvSpPr>
          <p:cNvPr id="3" name="Shape 1"/>
          <p:cNvSpPr/>
          <p:nvPr/>
        </p:nvSpPr>
        <p:spPr>
          <a:xfrm>
            <a:off x="8366760" y="5623560"/>
            <a:ext cx="438912" cy="548640"/>
          </a:xfrm>
          <a:prstGeom prst="roundRect">
            <a:avLst>
              <a:gd name="adj" fmla="val 5208"/>
            </a:avLst>
          </a:prstGeom>
          <a:solidFill>
            <a:srgbClr val="12A594"/>
          </a:solidFill>
          <a:ln/>
        </p:spPr>
      </p:sp>
      <p:sp>
        <p:nvSpPr>
          <p:cNvPr id="4" name="Shape 2"/>
          <p:cNvSpPr/>
          <p:nvPr/>
        </p:nvSpPr>
        <p:spPr>
          <a:xfrm>
            <a:off x="8951976" y="5349240"/>
            <a:ext cx="438912" cy="822960"/>
          </a:xfrm>
          <a:prstGeom prst="roundRect">
            <a:avLst>
              <a:gd name="adj" fmla="val 5208"/>
            </a:avLst>
          </a:prstGeom>
          <a:solidFill>
            <a:srgbClr val="3A4A7A"/>
          </a:solidFill>
          <a:ln/>
        </p:spPr>
      </p:sp>
      <p:sp>
        <p:nvSpPr>
          <p:cNvPr id="5" name="Shape 3"/>
          <p:cNvSpPr/>
          <p:nvPr/>
        </p:nvSpPr>
        <p:spPr>
          <a:xfrm>
            <a:off x="9537192" y="5074920"/>
            <a:ext cx="438912" cy="1097280"/>
          </a:xfrm>
          <a:prstGeom prst="roundRect">
            <a:avLst>
              <a:gd name="adj" fmla="val 5208"/>
            </a:avLst>
          </a:prstGeom>
          <a:solidFill>
            <a:srgbClr val="12A594"/>
          </a:solidFill>
          <a:ln/>
        </p:spPr>
      </p:sp>
      <p:sp>
        <p:nvSpPr>
          <p:cNvPr id="6" name="Shape 4"/>
          <p:cNvSpPr/>
          <p:nvPr/>
        </p:nvSpPr>
        <p:spPr>
          <a:xfrm>
            <a:off x="10122408" y="4709160"/>
            <a:ext cx="438912" cy="1463040"/>
          </a:xfrm>
          <a:prstGeom prst="roundRect">
            <a:avLst>
              <a:gd name="adj" fmla="val 5208"/>
            </a:avLst>
          </a:prstGeom>
          <a:solidFill>
            <a:srgbClr val="3A4A7A"/>
          </a:solidFill>
          <a:ln/>
        </p:spPr>
      </p:sp>
      <p:sp>
        <p:nvSpPr>
          <p:cNvPr id="7" name="Shape 5"/>
          <p:cNvSpPr/>
          <p:nvPr/>
        </p:nvSpPr>
        <p:spPr>
          <a:xfrm>
            <a:off x="10707624" y="4343400"/>
            <a:ext cx="438912" cy="1828800"/>
          </a:xfrm>
          <a:prstGeom prst="roundRect">
            <a:avLst>
              <a:gd name="adj" fmla="val 5208"/>
            </a:avLst>
          </a:prstGeom>
          <a:solidFill>
            <a:srgbClr val="12A594"/>
          </a:solidFill>
          <a:ln/>
        </p:spPr>
      </p:sp>
      <p:sp>
        <p:nvSpPr>
          <p:cNvPr id="8" name="Shape 6"/>
          <p:cNvSpPr/>
          <p:nvPr/>
        </p:nvSpPr>
        <p:spPr>
          <a:xfrm>
            <a:off x="11292840" y="3886200"/>
            <a:ext cx="438912" cy="2286000"/>
          </a:xfrm>
          <a:prstGeom prst="roundRect">
            <a:avLst>
              <a:gd name="adj" fmla="val 5208"/>
            </a:avLst>
          </a:prstGeom>
          <a:solidFill>
            <a:srgbClr val="8B5FBF"/>
          </a:solidFill>
          <a:ln/>
        </p:spPr>
      </p:sp>
      <p:sp>
        <p:nvSpPr>
          <p:cNvPr id="9" name="Text 7"/>
          <p:cNvSpPr/>
          <p:nvPr/>
        </p:nvSpPr>
        <p:spPr>
          <a:xfrm>
            <a:off x="8366760" y="6263640"/>
            <a:ext cx="3291840" cy="274320"/>
          </a:xfrm>
          <a:prstGeom prst="rect">
            <a:avLst/>
          </a:prstGeom>
          <a:noFill/>
          <a:ln/>
        </p:spPr>
        <p:txBody>
          <a:bodyPr wrap="square" lIns="0" tIns="0" rIns="0" bIns="0" rtlCol="0" anchor="ctr"/>
          <a:lstStyle/>
          <a:p>
            <a:pPr marL="0" indent="0" algn="ctr">
              <a:buNone/>
            </a:pPr>
            <a:r>
              <a:rPr lang="en-US" sz="1000" kern="0" spc="150" dirty="0">
                <a:solidFill>
                  <a:srgbClr val="C6D0E4"/>
                </a:solidFill>
                <a:latin typeface="Calibri" pitchFamily="34" charset="0"/>
                <a:ea typeface="Calibri" pitchFamily="34" charset="-122"/>
                <a:cs typeface="Calibri" pitchFamily="34" charset="-120"/>
              </a:rPr>
              <a:t>2014 – 2017</a:t>
            </a:r>
            <a:endParaRPr lang="en-US" sz="1000" dirty="0"/>
          </a:p>
        </p:txBody>
      </p:sp>
      <p:sp>
        <p:nvSpPr>
          <p:cNvPr id="10" name="Text 8"/>
          <p:cNvSpPr/>
          <p:nvPr/>
        </p:nvSpPr>
        <p:spPr>
          <a:xfrm>
            <a:off x="822960" y="1600200"/>
            <a:ext cx="6400800" cy="320040"/>
          </a:xfrm>
          <a:prstGeom prst="rect">
            <a:avLst/>
          </a:prstGeom>
          <a:noFill/>
          <a:ln/>
        </p:spPr>
        <p:txBody>
          <a:bodyPr wrap="square" lIns="0" tIns="0" rIns="0" bIns="0" rtlCol="0" anchor="ctr"/>
          <a:lstStyle/>
          <a:p>
            <a:pPr marL="0" indent="0">
              <a:buNone/>
            </a:pPr>
            <a:r>
              <a:rPr lang="en-US" sz="1300" b="1" kern="0" spc="250" dirty="0">
                <a:solidFill>
                  <a:srgbClr val="12A594"/>
                </a:solidFill>
                <a:latin typeface="Calibri" pitchFamily="34" charset="0"/>
                <a:ea typeface="Calibri" pitchFamily="34" charset="-122"/>
                <a:cs typeface="Calibri" pitchFamily="34" charset="-120"/>
              </a:rPr>
              <a:t>DATA ANALYTICS PROJECT</a:t>
            </a:r>
            <a:endParaRPr lang="en-US" sz="1300" dirty="0"/>
          </a:p>
        </p:txBody>
      </p:sp>
      <p:sp>
        <p:nvSpPr>
          <p:cNvPr id="11" name="Text 9"/>
          <p:cNvSpPr/>
          <p:nvPr/>
        </p:nvSpPr>
        <p:spPr>
          <a:xfrm>
            <a:off x="795528" y="2011680"/>
            <a:ext cx="7863840" cy="1600200"/>
          </a:xfrm>
          <a:prstGeom prst="rect">
            <a:avLst/>
          </a:prstGeom>
          <a:noFill/>
          <a:ln/>
        </p:spPr>
        <p:txBody>
          <a:bodyPr wrap="square" lIns="0" tIns="0" rIns="0" bIns="0" rtlCol="0" anchor="ctr"/>
          <a:lstStyle/>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SUPERSTORE SALES</a:t>
            </a:r>
            <a:endParaRPr lang="en-US" sz="4000" dirty="0"/>
          </a:p>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PERFORMANCE DASHBOARD</a:t>
            </a:r>
            <a:endParaRPr lang="en-US" sz="4000" dirty="0"/>
          </a:p>
        </p:txBody>
      </p:sp>
      <p:sp>
        <p:nvSpPr>
          <p:cNvPr id="12" name="Shape 10"/>
          <p:cNvSpPr/>
          <p:nvPr/>
        </p:nvSpPr>
        <p:spPr>
          <a:xfrm>
            <a:off x="932688" y="3995928"/>
            <a:ext cx="457200" cy="457200"/>
          </a:xfrm>
          <a:prstGeom prst="ellipse">
            <a:avLst/>
          </a:prstGeom>
          <a:solidFill>
            <a:srgbClr val="12A594"/>
          </a:solidFill>
          <a:ln/>
        </p:spPr>
      </p:sp>
      <p:pic>
        <p:nvPicPr>
          <p:cNvPr id="13" name="Image 0" descr="preencoded.png"/>
          <p:cNvPicPr>
            <a:picLocks noChangeAspect="1"/>
          </p:cNvPicPr>
          <p:nvPr/>
        </p:nvPicPr>
        <p:blipFill>
          <a:blip r:embed="rId3"/>
          <a:stretch>
            <a:fillRect/>
          </a:stretch>
        </p:blipFill>
        <p:spPr>
          <a:xfrm>
            <a:off x="1056132" y="4119372"/>
            <a:ext cx="210312" cy="210312"/>
          </a:xfrm>
          <a:prstGeom prst="rect">
            <a:avLst/>
          </a:prstGeom>
        </p:spPr>
      </p:pic>
      <p:sp>
        <p:nvSpPr>
          <p:cNvPr id="14" name="Text 11"/>
          <p:cNvSpPr/>
          <p:nvPr/>
        </p:nvSpPr>
        <p:spPr>
          <a:xfrm>
            <a:off x="1536192" y="4041648"/>
            <a:ext cx="5486400" cy="365760"/>
          </a:xfrm>
          <a:prstGeom prst="rect">
            <a:avLst/>
          </a:prstGeom>
          <a:noFill/>
          <a:ln/>
        </p:spPr>
        <p:txBody>
          <a:bodyPr wrap="square" lIns="0" tIns="0" rIns="0" bIns="0" rtlCol="0" anchor="ctr"/>
          <a:lstStyle/>
          <a:p>
            <a:pPr marL="0" indent="0">
              <a:buNone/>
            </a:pPr>
            <a:r>
              <a:rPr lang="en-US" sz="1500" b="1" dirty="0">
                <a:solidFill>
                  <a:srgbClr val="C6D0E4"/>
                </a:solidFill>
                <a:latin typeface="Calibri" pitchFamily="34" charset="0"/>
                <a:ea typeface="Calibri" pitchFamily="34" charset="-122"/>
                <a:cs typeface="Calibri" pitchFamily="34" charset="-120"/>
              </a:rPr>
              <a:t>Prepared By:  </a:t>
            </a:r>
            <a:r>
              <a:rPr lang="en-US" sz="1500" b="1" dirty="0">
                <a:solidFill>
                  <a:srgbClr val="FFFFFF"/>
                </a:solidFill>
                <a:latin typeface="Calibri" pitchFamily="34" charset="0"/>
                <a:ea typeface="Calibri" pitchFamily="34" charset="-122"/>
                <a:cs typeface="Calibri" pitchFamily="34" charset="-120"/>
              </a:rPr>
              <a:t>Tanishq</a:t>
            </a:r>
            <a:endParaRPr lang="en-US" sz="1500" dirty="0"/>
          </a:p>
        </p:txBody>
      </p:sp>
      <p:sp>
        <p:nvSpPr>
          <p:cNvPr id="15" name="Shape 12"/>
          <p:cNvSpPr/>
          <p:nvPr/>
        </p:nvSpPr>
        <p:spPr>
          <a:xfrm>
            <a:off x="932688" y="4599432"/>
            <a:ext cx="457200" cy="457200"/>
          </a:xfrm>
          <a:prstGeom prst="ellipse">
            <a:avLst/>
          </a:prstGeom>
          <a:solidFill>
            <a:srgbClr val="8B5FBF"/>
          </a:solidFill>
          <a:ln/>
        </p:spPr>
      </p:sp>
      <p:pic>
        <p:nvPicPr>
          <p:cNvPr id="16" name="Image 1" descr="preencoded.png"/>
          <p:cNvPicPr>
            <a:picLocks noChangeAspect="1"/>
          </p:cNvPicPr>
          <p:nvPr/>
        </p:nvPicPr>
        <p:blipFill>
          <a:blip r:embed="rId4"/>
          <a:stretch>
            <a:fillRect/>
          </a:stretch>
        </p:blipFill>
        <p:spPr>
          <a:xfrm>
            <a:off x="1056132" y="4722876"/>
            <a:ext cx="210312" cy="210312"/>
          </a:xfrm>
          <a:prstGeom prst="rect">
            <a:avLst/>
          </a:prstGeom>
        </p:spPr>
      </p:pic>
      <p:sp>
        <p:nvSpPr>
          <p:cNvPr id="17" name="Text 13"/>
          <p:cNvSpPr/>
          <p:nvPr/>
        </p:nvSpPr>
        <p:spPr>
          <a:xfrm>
            <a:off x="1536192" y="4645152"/>
            <a:ext cx="5486400" cy="365760"/>
          </a:xfrm>
          <a:prstGeom prst="rect">
            <a:avLst/>
          </a:prstGeom>
          <a:noFill/>
          <a:ln/>
        </p:spPr>
        <p:txBody>
          <a:bodyPr wrap="square" lIns="0" tIns="0" rIns="0" bIns="0" rtlCol="0" anchor="ctr"/>
          <a:lstStyle/>
          <a:p>
            <a:pPr marL="0" indent="0">
              <a:buNone/>
            </a:pPr>
            <a:r>
              <a:rPr lang="en-US" sz="1500" b="1" dirty="0">
                <a:solidFill>
                  <a:srgbClr val="C6D0E4"/>
                </a:solidFill>
                <a:latin typeface="Calibri" pitchFamily="34" charset="0"/>
                <a:ea typeface="Calibri" pitchFamily="34" charset="-122"/>
                <a:cs typeface="Calibri" pitchFamily="34" charset="-120"/>
              </a:rPr>
              <a:t>Tools Used:  </a:t>
            </a:r>
            <a:r>
              <a:rPr lang="en-US" sz="1500" b="1" dirty="0">
                <a:solidFill>
                  <a:srgbClr val="FFFFFF"/>
                </a:solidFill>
                <a:latin typeface="Calibri" pitchFamily="34" charset="0"/>
                <a:ea typeface="Calibri" pitchFamily="34" charset="-122"/>
                <a:cs typeface="Calibri" pitchFamily="34" charset="-120"/>
              </a:rPr>
              <a:t>Microsoft Power BI</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20624"/>
            <a:ext cx="9144000" cy="274320"/>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01   ·   PROJECT OVERVIEW</a:t>
            </a:r>
            <a:endParaRPr lang="en-US" sz="1200" dirty="0"/>
          </a:p>
        </p:txBody>
      </p:sp>
      <p:sp>
        <p:nvSpPr>
          <p:cNvPr id="3" name="Text 1"/>
          <p:cNvSpPr/>
          <p:nvPr/>
        </p:nvSpPr>
        <p:spPr>
          <a:xfrm>
            <a:off x="548640" y="676656"/>
            <a:ext cx="9601200" cy="566928"/>
          </a:xfrm>
          <a:prstGeom prst="rect">
            <a:avLst/>
          </a:prstGeom>
          <a:noFill/>
          <a:ln/>
        </p:spPr>
        <p:txBody>
          <a:bodyPr wrap="square" lIns="0" tIns="0" rIns="0" bIns="0" rtlCol="0" anchor="ctr"/>
          <a:lstStyle/>
          <a:p>
            <a:pPr marL="0" indent="0">
              <a:buNone/>
            </a:pPr>
            <a:r>
              <a:rPr lang="en-US" sz="3000" b="1" dirty="0">
                <a:solidFill>
                  <a:srgbClr val="1B2A56"/>
                </a:solidFill>
                <a:latin typeface="Cambria" pitchFamily="34" charset="0"/>
                <a:ea typeface="Cambria" pitchFamily="34" charset="-122"/>
                <a:cs typeface="Cambria" pitchFamily="34" charset="-120"/>
              </a:rPr>
              <a:t>Project Overview</a:t>
            </a:r>
            <a:endParaRPr lang="en-US" sz="3000" dirty="0"/>
          </a:p>
        </p:txBody>
      </p:sp>
      <p:sp>
        <p:nvSpPr>
          <p:cNvPr id="4" name="Shape 2"/>
          <p:cNvSpPr/>
          <p:nvPr/>
        </p:nvSpPr>
        <p:spPr>
          <a:xfrm>
            <a:off x="548640" y="1600200"/>
            <a:ext cx="5120640" cy="4114800"/>
          </a:xfrm>
          <a:prstGeom prst="roundRect">
            <a:avLst>
              <a:gd name="adj" fmla="val 2000"/>
            </a:avLst>
          </a:prstGeom>
          <a:solidFill>
            <a:srgbClr val="FFFFFF"/>
          </a:solidFill>
          <a:ln/>
          <a:effectLst>
            <a:outerShdw blurRad="114300" dist="38100" dir="5400000" algn="bl" rotWithShape="0">
              <a:srgbClr val="1B2A56">
                <a:alpha val="10000"/>
              </a:srgbClr>
            </a:outerShdw>
          </a:effectLst>
        </p:spPr>
      </p:sp>
      <p:sp>
        <p:nvSpPr>
          <p:cNvPr id="5" name="Shape 3"/>
          <p:cNvSpPr/>
          <p:nvPr/>
        </p:nvSpPr>
        <p:spPr>
          <a:xfrm>
            <a:off x="914400" y="1965960"/>
            <a:ext cx="640080" cy="640080"/>
          </a:xfrm>
          <a:prstGeom prst="ellipse">
            <a:avLst/>
          </a:prstGeom>
          <a:solidFill>
            <a:srgbClr val="12A594"/>
          </a:solidFill>
          <a:ln/>
        </p:spPr>
      </p:sp>
      <p:pic>
        <p:nvPicPr>
          <p:cNvPr id="6" name="Image 0" descr="preencoded.png"/>
          <p:cNvPicPr>
            <a:picLocks noChangeAspect="1"/>
          </p:cNvPicPr>
          <p:nvPr/>
        </p:nvPicPr>
        <p:blipFill>
          <a:blip r:embed="rId3"/>
          <a:stretch>
            <a:fillRect/>
          </a:stretch>
        </p:blipFill>
        <p:spPr>
          <a:xfrm>
            <a:off x="1080821" y="2132381"/>
            <a:ext cx="307238" cy="307238"/>
          </a:xfrm>
          <a:prstGeom prst="rect">
            <a:avLst/>
          </a:prstGeom>
        </p:spPr>
      </p:pic>
      <p:sp>
        <p:nvSpPr>
          <p:cNvPr id="7" name="Text 4"/>
          <p:cNvSpPr/>
          <p:nvPr/>
        </p:nvSpPr>
        <p:spPr>
          <a:xfrm>
            <a:off x="1691640" y="2011680"/>
            <a:ext cx="3657600" cy="548640"/>
          </a:xfrm>
          <a:prstGeom prst="rect">
            <a:avLst/>
          </a:prstGeom>
          <a:noFill/>
          <a:ln/>
        </p:spPr>
        <p:txBody>
          <a:bodyPr wrap="square" lIns="0" tIns="0" rIns="0" bIns="0" rtlCol="0" anchor="ctr"/>
          <a:lstStyle/>
          <a:p>
            <a:pPr marL="0" indent="0">
              <a:buNone/>
            </a:pPr>
            <a:r>
              <a:rPr lang="en-US" sz="1900" b="1" dirty="0">
                <a:solidFill>
                  <a:srgbClr val="1B2A56"/>
                </a:solidFill>
                <a:latin typeface="Cambria" pitchFamily="34" charset="0"/>
                <a:ea typeface="Cambria" pitchFamily="34" charset="-122"/>
                <a:cs typeface="Cambria" pitchFamily="34" charset="-120"/>
              </a:rPr>
              <a:t>Objective</a:t>
            </a:r>
            <a:endParaRPr lang="en-US" sz="1900" dirty="0"/>
          </a:p>
        </p:txBody>
      </p:sp>
      <p:sp>
        <p:nvSpPr>
          <p:cNvPr id="8" name="Text 5"/>
          <p:cNvSpPr/>
          <p:nvPr/>
        </p:nvSpPr>
        <p:spPr>
          <a:xfrm>
            <a:off x="914400" y="2834640"/>
            <a:ext cx="4389120" cy="1554480"/>
          </a:xfrm>
          <a:prstGeom prst="rect">
            <a:avLst/>
          </a:prstGeom>
          <a:noFill/>
          <a:ln/>
        </p:spPr>
        <p:txBody>
          <a:bodyPr wrap="square" lIns="0" tIns="0" rIns="0" bIns="0" rtlCol="0" anchor="ctr"/>
          <a:lstStyle/>
          <a:p>
            <a:pPr marL="0" indent="0">
              <a:lnSpc>
                <a:spcPts val="2100"/>
              </a:lnSpc>
              <a:buNone/>
            </a:pPr>
            <a:r>
              <a:rPr lang="en-US" sz="1450" dirty="0">
                <a:solidFill>
                  <a:srgbClr val="1B2338"/>
                </a:solidFill>
                <a:latin typeface="Calibri" pitchFamily="34" charset="0"/>
                <a:ea typeface="Calibri" pitchFamily="34" charset="-122"/>
                <a:cs typeface="Calibri" pitchFamily="34" charset="-120"/>
              </a:rPr>
              <a:t>Develop an interactive Power BI dashboard to analyze Superstore sales performance and generate meaningful business insights for better decision-making.</a:t>
            </a:r>
            <a:endParaRPr lang="en-US" sz="1450" dirty="0"/>
          </a:p>
        </p:txBody>
      </p:sp>
      <p:sp>
        <p:nvSpPr>
          <p:cNvPr id="9" name="Text 6"/>
          <p:cNvSpPr/>
          <p:nvPr/>
        </p:nvSpPr>
        <p:spPr>
          <a:xfrm>
            <a:off x="914400" y="4480560"/>
            <a:ext cx="1371600" cy="594360"/>
          </a:xfrm>
          <a:prstGeom prst="rect">
            <a:avLst/>
          </a:prstGeom>
          <a:noFill/>
          <a:ln/>
        </p:spPr>
        <p:txBody>
          <a:bodyPr wrap="square" lIns="0" tIns="0" rIns="0" bIns="0" rtlCol="0" anchor="ctr"/>
          <a:lstStyle/>
          <a:p>
            <a:pPr marL="0" indent="0" algn="ctr">
              <a:buNone/>
            </a:pPr>
            <a:r>
              <a:rPr lang="en-US" sz="3000" b="1" dirty="0">
                <a:solidFill>
                  <a:srgbClr val="12A594"/>
                </a:solidFill>
                <a:latin typeface="Cambria" pitchFamily="34" charset="0"/>
                <a:ea typeface="Cambria" pitchFamily="34" charset="-122"/>
                <a:cs typeface="Cambria" pitchFamily="34" charset="-120"/>
              </a:rPr>
              <a:t>4</a:t>
            </a:r>
            <a:endParaRPr lang="en-US" sz="3000" dirty="0"/>
          </a:p>
        </p:txBody>
      </p:sp>
      <p:sp>
        <p:nvSpPr>
          <p:cNvPr id="10" name="Text 7"/>
          <p:cNvSpPr/>
          <p:nvPr/>
        </p:nvSpPr>
        <p:spPr>
          <a:xfrm>
            <a:off x="914400" y="5056632"/>
            <a:ext cx="1371600" cy="320040"/>
          </a:xfrm>
          <a:prstGeom prst="rect">
            <a:avLst/>
          </a:prstGeom>
          <a:noFill/>
          <a:ln/>
        </p:spPr>
        <p:txBody>
          <a:bodyPr wrap="square" lIns="0" tIns="0" rIns="0" bIns="0" rtlCol="0" anchor="ctr"/>
          <a:lstStyle/>
          <a:p>
            <a:pPr marL="0" indent="0" algn="ctr">
              <a:buNone/>
            </a:pPr>
            <a:r>
              <a:rPr lang="en-US" sz="950" b="1" kern="0" spc="100" dirty="0">
                <a:solidFill>
                  <a:srgbClr val="64748B"/>
                </a:solidFill>
                <a:latin typeface="Calibri" pitchFamily="34" charset="0"/>
                <a:ea typeface="Calibri" pitchFamily="34" charset="-122"/>
                <a:cs typeface="Calibri" pitchFamily="34" charset="-120"/>
              </a:rPr>
              <a:t>YEARS</a:t>
            </a:r>
            <a:endParaRPr lang="en-US" sz="950" dirty="0"/>
          </a:p>
        </p:txBody>
      </p:sp>
      <p:sp>
        <p:nvSpPr>
          <p:cNvPr id="11" name="Text 8"/>
          <p:cNvSpPr/>
          <p:nvPr/>
        </p:nvSpPr>
        <p:spPr>
          <a:xfrm>
            <a:off x="2423160" y="4480560"/>
            <a:ext cx="1371600" cy="594360"/>
          </a:xfrm>
          <a:prstGeom prst="rect">
            <a:avLst/>
          </a:prstGeom>
          <a:noFill/>
          <a:ln/>
        </p:spPr>
        <p:txBody>
          <a:bodyPr wrap="square" lIns="0" tIns="0" rIns="0" bIns="0" rtlCol="0" anchor="ctr"/>
          <a:lstStyle/>
          <a:p>
            <a:pPr marL="0" indent="0" algn="ctr">
              <a:buNone/>
            </a:pPr>
            <a:r>
              <a:rPr lang="en-US" sz="3000" b="1" dirty="0">
                <a:solidFill>
                  <a:srgbClr val="8B5FBF"/>
                </a:solidFill>
                <a:latin typeface="Cambria" pitchFamily="34" charset="0"/>
                <a:ea typeface="Cambria" pitchFamily="34" charset="-122"/>
                <a:cs typeface="Cambria" pitchFamily="34" charset="-120"/>
              </a:rPr>
              <a:t>4</a:t>
            </a:r>
            <a:endParaRPr lang="en-US" sz="3000" dirty="0"/>
          </a:p>
        </p:txBody>
      </p:sp>
      <p:sp>
        <p:nvSpPr>
          <p:cNvPr id="12" name="Text 9"/>
          <p:cNvSpPr/>
          <p:nvPr/>
        </p:nvSpPr>
        <p:spPr>
          <a:xfrm>
            <a:off x="2423160" y="5056632"/>
            <a:ext cx="1371600" cy="320040"/>
          </a:xfrm>
          <a:prstGeom prst="rect">
            <a:avLst/>
          </a:prstGeom>
          <a:noFill/>
          <a:ln/>
        </p:spPr>
        <p:txBody>
          <a:bodyPr wrap="square" lIns="0" tIns="0" rIns="0" bIns="0" rtlCol="0" anchor="ctr"/>
          <a:lstStyle/>
          <a:p>
            <a:pPr marL="0" indent="0" algn="ctr">
              <a:buNone/>
            </a:pPr>
            <a:r>
              <a:rPr lang="en-US" sz="950" b="1" kern="0" spc="100" dirty="0">
                <a:solidFill>
                  <a:srgbClr val="64748B"/>
                </a:solidFill>
                <a:latin typeface="Calibri" pitchFamily="34" charset="0"/>
                <a:ea typeface="Calibri" pitchFamily="34" charset="-122"/>
                <a:cs typeface="Calibri" pitchFamily="34" charset="-120"/>
              </a:rPr>
              <a:t>REGIONS</a:t>
            </a:r>
            <a:endParaRPr lang="en-US" sz="950" dirty="0"/>
          </a:p>
        </p:txBody>
      </p:sp>
      <p:sp>
        <p:nvSpPr>
          <p:cNvPr id="13" name="Text 10"/>
          <p:cNvSpPr/>
          <p:nvPr/>
        </p:nvSpPr>
        <p:spPr>
          <a:xfrm>
            <a:off x="3931920" y="4480560"/>
            <a:ext cx="1371600" cy="594360"/>
          </a:xfrm>
          <a:prstGeom prst="rect">
            <a:avLst/>
          </a:prstGeom>
          <a:noFill/>
          <a:ln/>
        </p:spPr>
        <p:txBody>
          <a:bodyPr wrap="square" lIns="0" tIns="0" rIns="0" bIns="0" rtlCol="0" anchor="ctr"/>
          <a:lstStyle/>
          <a:p>
            <a:pPr marL="0" indent="0" algn="ctr">
              <a:buNone/>
            </a:pPr>
            <a:r>
              <a:rPr lang="en-US" sz="3000" b="1" dirty="0">
                <a:solidFill>
                  <a:srgbClr val="1B2A56"/>
                </a:solidFill>
                <a:latin typeface="Cambria" pitchFamily="34" charset="0"/>
                <a:ea typeface="Cambria" pitchFamily="34" charset="-122"/>
                <a:cs typeface="Cambria" pitchFamily="34" charset="-120"/>
              </a:rPr>
              <a:t>17</a:t>
            </a:r>
            <a:endParaRPr lang="en-US" sz="3000" dirty="0"/>
          </a:p>
        </p:txBody>
      </p:sp>
      <p:sp>
        <p:nvSpPr>
          <p:cNvPr id="14" name="Text 11"/>
          <p:cNvSpPr/>
          <p:nvPr/>
        </p:nvSpPr>
        <p:spPr>
          <a:xfrm>
            <a:off x="3931920" y="5056632"/>
            <a:ext cx="1371600" cy="320040"/>
          </a:xfrm>
          <a:prstGeom prst="rect">
            <a:avLst/>
          </a:prstGeom>
          <a:noFill/>
          <a:ln/>
        </p:spPr>
        <p:txBody>
          <a:bodyPr wrap="square" lIns="0" tIns="0" rIns="0" bIns="0" rtlCol="0" anchor="ctr"/>
          <a:lstStyle/>
          <a:p>
            <a:pPr marL="0" indent="0" algn="ctr">
              <a:buNone/>
            </a:pPr>
            <a:r>
              <a:rPr lang="en-US" sz="950" b="1" kern="0" spc="100" dirty="0">
                <a:solidFill>
                  <a:srgbClr val="64748B"/>
                </a:solidFill>
                <a:latin typeface="Calibri" pitchFamily="34" charset="0"/>
                <a:ea typeface="Calibri" pitchFamily="34" charset="-122"/>
                <a:cs typeface="Calibri" pitchFamily="34" charset="-120"/>
              </a:rPr>
              <a:t>SUB-CATEGORIES</a:t>
            </a:r>
            <a:endParaRPr lang="en-US" sz="950" dirty="0"/>
          </a:p>
        </p:txBody>
      </p:sp>
      <p:sp>
        <p:nvSpPr>
          <p:cNvPr id="15" name="Text 12"/>
          <p:cNvSpPr/>
          <p:nvPr/>
        </p:nvSpPr>
        <p:spPr>
          <a:xfrm>
            <a:off x="6035040" y="1600200"/>
            <a:ext cx="5605272" cy="411480"/>
          </a:xfrm>
          <a:prstGeom prst="rect">
            <a:avLst/>
          </a:prstGeom>
          <a:noFill/>
          <a:ln/>
        </p:spPr>
        <p:txBody>
          <a:bodyPr wrap="square" lIns="0" tIns="0" rIns="0" bIns="0" rtlCol="0" anchor="ctr"/>
          <a:lstStyle/>
          <a:p>
            <a:pPr marL="0" indent="0">
              <a:buNone/>
            </a:pPr>
            <a:r>
              <a:rPr lang="en-US" sz="1900" b="1" dirty="0">
                <a:solidFill>
                  <a:srgbClr val="1B2A56"/>
                </a:solidFill>
                <a:latin typeface="Cambria" pitchFamily="34" charset="0"/>
                <a:ea typeface="Cambria" pitchFamily="34" charset="-122"/>
                <a:cs typeface="Cambria" pitchFamily="34" charset="-120"/>
              </a:rPr>
              <a:t>Scope</a:t>
            </a:r>
            <a:endParaRPr lang="en-US" sz="1900" dirty="0"/>
          </a:p>
        </p:txBody>
      </p:sp>
      <p:sp>
        <p:nvSpPr>
          <p:cNvPr id="16" name="Shape 13"/>
          <p:cNvSpPr/>
          <p:nvPr/>
        </p:nvSpPr>
        <p:spPr>
          <a:xfrm>
            <a:off x="6035040" y="2249424"/>
            <a:ext cx="5605272" cy="489204"/>
          </a:xfrm>
          <a:prstGeom prst="roundRect">
            <a:avLst>
              <a:gd name="adj" fmla="val 13084"/>
            </a:avLst>
          </a:prstGeom>
          <a:solidFill>
            <a:srgbClr val="FFFFFF"/>
          </a:solidFill>
          <a:ln/>
          <a:effectLst>
            <a:outerShdw blurRad="76200" dist="25400" dir="5400000" algn="bl" rotWithShape="0">
              <a:srgbClr val="1B2A56">
                <a:alpha val="6000"/>
              </a:srgbClr>
            </a:outerShdw>
          </a:effectLst>
        </p:spPr>
      </p:sp>
      <p:sp>
        <p:nvSpPr>
          <p:cNvPr id="17" name="Shape 14"/>
          <p:cNvSpPr/>
          <p:nvPr/>
        </p:nvSpPr>
        <p:spPr>
          <a:xfrm>
            <a:off x="6245352" y="2302002"/>
            <a:ext cx="384048" cy="384048"/>
          </a:xfrm>
          <a:prstGeom prst="ellipse">
            <a:avLst/>
          </a:prstGeom>
          <a:solidFill>
            <a:srgbClr val="1B2A56"/>
          </a:solidFill>
          <a:ln/>
        </p:spPr>
      </p:sp>
      <p:pic>
        <p:nvPicPr>
          <p:cNvPr id="18" name="Image 1" descr="preencoded.png"/>
          <p:cNvPicPr>
            <a:picLocks noChangeAspect="1"/>
          </p:cNvPicPr>
          <p:nvPr/>
        </p:nvPicPr>
        <p:blipFill>
          <a:blip r:embed="rId4"/>
          <a:stretch>
            <a:fillRect/>
          </a:stretch>
        </p:blipFill>
        <p:spPr>
          <a:xfrm>
            <a:off x="6341364" y="2398014"/>
            <a:ext cx="192024" cy="192024"/>
          </a:xfrm>
          <a:prstGeom prst="rect">
            <a:avLst/>
          </a:prstGeom>
        </p:spPr>
      </p:pic>
      <p:sp>
        <p:nvSpPr>
          <p:cNvPr id="19" name="Text 15"/>
          <p:cNvSpPr/>
          <p:nvPr/>
        </p:nvSpPr>
        <p:spPr>
          <a:xfrm>
            <a:off x="6784848" y="2249424"/>
            <a:ext cx="4599432" cy="489204"/>
          </a:xfrm>
          <a:prstGeom prst="rect">
            <a:avLst/>
          </a:prstGeom>
          <a:noFill/>
          <a:ln/>
        </p:spPr>
        <p:txBody>
          <a:bodyPr wrap="square" lIns="0" tIns="0" rIns="0" bIns="0" rtlCol="0" anchor="ctr"/>
          <a:lstStyle/>
          <a:p>
            <a:pPr marL="0" indent="0">
              <a:buNone/>
            </a:pPr>
            <a:r>
              <a:rPr lang="en-US" sz="1350" dirty="0">
                <a:solidFill>
                  <a:srgbClr val="1B2338"/>
                </a:solidFill>
                <a:latin typeface="Calibri" pitchFamily="34" charset="0"/>
                <a:ea typeface="Calibri" pitchFamily="34" charset="-122"/>
                <a:cs typeface="Calibri" pitchFamily="34" charset="-120"/>
              </a:rPr>
              <a:t>Analyze overall sales performance</a:t>
            </a:r>
            <a:endParaRPr lang="en-US" sz="1350" dirty="0"/>
          </a:p>
        </p:txBody>
      </p:sp>
      <p:sp>
        <p:nvSpPr>
          <p:cNvPr id="20" name="Shape 16"/>
          <p:cNvSpPr/>
          <p:nvPr/>
        </p:nvSpPr>
        <p:spPr>
          <a:xfrm>
            <a:off x="6035040" y="2857500"/>
            <a:ext cx="5605272" cy="489204"/>
          </a:xfrm>
          <a:prstGeom prst="roundRect">
            <a:avLst>
              <a:gd name="adj" fmla="val 13084"/>
            </a:avLst>
          </a:prstGeom>
          <a:solidFill>
            <a:srgbClr val="FFFFFF"/>
          </a:solidFill>
          <a:ln/>
          <a:effectLst>
            <a:outerShdw blurRad="76200" dist="25400" dir="5400000" algn="bl" rotWithShape="0">
              <a:srgbClr val="1B2A56">
                <a:alpha val="6000"/>
              </a:srgbClr>
            </a:outerShdw>
          </a:effectLst>
        </p:spPr>
      </p:sp>
      <p:sp>
        <p:nvSpPr>
          <p:cNvPr id="21" name="Shape 17"/>
          <p:cNvSpPr/>
          <p:nvPr/>
        </p:nvSpPr>
        <p:spPr>
          <a:xfrm>
            <a:off x="6245352" y="2910078"/>
            <a:ext cx="384048" cy="384048"/>
          </a:xfrm>
          <a:prstGeom prst="ellipse">
            <a:avLst/>
          </a:prstGeom>
          <a:solidFill>
            <a:srgbClr val="8B5FBF"/>
          </a:solidFill>
          <a:ln/>
        </p:spPr>
      </p:sp>
      <p:pic>
        <p:nvPicPr>
          <p:cNvPr id="22" name="Image 2" descr="preencoded.png"/>
          <p:cNvPicPr>
            <a:picLocks noChangeAspect="1"/>
          </p:cNvPicPr>
          <p:nvPr/>
        </p:nvPicPr>
        <p:blipFill>
          <a:blip r:embed="rId5"/>
          <a:stretch>
            <a:fillRect/>
          </a:stretch>
        </p:blipFill>
        <p:spPr>
          <a:xfrm>
            <a:off x="6341364" y="3006090"/>
            <a:ext cx="192024" cy="192024"/>
          </a:xfrm>
          <a:prstGeom prst="rect">
            <a:avLst/>
          </a:prstGeom>
        </p:spPr>
      </p:pic>
      <p:sp>
        <p:nvSpPr>
          <p:cNvPr id="23" name="Text 18"/>
          <p:cNvSpPr/>
          <p:nvPr/>
        </p:nvSpPr>
        <p:spPr>
          <a:xfrm>
            <a:off x="6784848" y="2857500"/>
            <a:ext cx="4599432" cy="489204"/>
          </a:xfrm>
          <a:prstGeom prst="rect">
            <a:avLst/>
          </a:prstGeom>
          <a:noFill/>
          <a:ln/>
        </p:spPr>
        <p:txBody>
          <a:bodyPr wrap="square" lIns="0" tIns="0" rIns="0" bIns="0" rtlCol="0" anchor="ctr"/>
          <a:lstStyle/>
          <a:p>
            <a:pPr marL="0" indent="0">
              <a:buNone/>
            </a:pPr>
            <a:r>
              <a:rPr lang="en-US" sz="1350" dirty="0">
                <a:solidFill>
                  <a:srgbClr val="1B2338"/>
                </a:solidFill>
                <a:latin typeface="Calibri" pitchFamily="34" charset="0"/>
                <a:ea typeface="Calibri" pitchFamily="34" charset="-122"/>
                <a:cs typeface="Calibri" pitchFamily="34" charset="-120"/>
              </a:rPr>
              <a:t>Monitor profit and quantity sold</a:t>
            </a:r>
            <a:endParaRPr lang="en-US" sz="1350" dirty="0"/>
          </a:p>
        </p:txBody>
      </p:sp>
      <p:sp>
        <p:nvSpPr>
          <p:cNvPr id="24" name="Shape 19"/>
          <p:cNvSpPr/>
          <p:nvPr/>
        </p:nvSpPr>
        <p:spPr>
          <a:xfrm>
            <a:off x="6035040" y="3465576"/>
            <a:ext cx="5605272" cy="489204"/>
          </a:xfrm>
          <a:prstGeom prst="roundRect">
            <a:avLst>
              <a:gd name="adj" fmla="val 13084"/>
            </a:avLst>
          </a:prstGeom>
          <a:solidFill>
            <a:srgbClr val="FFFFFF"/>
          </a:solidFill>
          <a:ln/>
          <a:effectLst>
            <a:outerShdw blurRad="76200" dist="25400" dir="5400000" algn="bl" rotWithShape="0">
              <a:srgbClr val="1B2A56">
                <a:alpha val="6000"/>
              </a:srgbClr>
            </a:outerShdw>
          </a:effectLst>
        </p:spPr>
      </p:sp>
      <p:sp>
        <p:nvSpPr>
          <p:cNvPr id="25" name="Shape 20"/>
          <p:cNvSpPr/>
          <p:nvPr/>
        </p:nvSpPr>
        <p:spPr>
          <a:xfrm>
            <a:off x="6245352" y="3518154"/>
            <a:ext cx="384048" cy="384048"/>
          </a:xfrm>
          <a:prstGeom prst="ellipse">
            <a:avLst/>
          </a:prstGeom>
          <a:solidFill>
            <a:srgbClr val="12A594"/>
          </a:solidFill>
          <a:ln/>
        </p:spPr>
      </p:sp>
      <p:pic>
        <p:nvPicPr>
          <p:cNvPr id="26" name="Image 3" descr="preencoded.png"/>
          <p:cNvPicPr>
            <a:picLocks noChangeAspect="1"/>
          </p:cNvPicPr>
          <p:nvPr/>
        </p:nvPicPr>
        <p:blipFill>
          <a:blip r:embed="rId6"/>
          <a:stretch>
            <a:fillRect/>
          </a:stretch>
        </p:blipFill>
        <p:spPr>
          <a:xfrm>
            <a:off x="6341364" y="3614166"/>
            <a:ext cx="192024" cy="192024"/>
          </a:xfrm>
          <a:prstGeom prst="rect">
            <a:avLst/>
          </a:prstGeom>
        </p:spPr>
      </p:pic>
      <p:sp>
        <p:nvSpPr>
          <p:cNvPr id="27" name="Text 21"/>
          <p:cNvSpPr/>
          <p:nvPr/>
        </p:nvSpPr>
        <p:spPr>
          <a:xfrm>
            <a:off x="6784848" y="3465576"/>
            <a:ext cx="4599432" cy="489204"/>
          </a:xfrm>
          <a:prstGeom prst="rect">
            <a:avLst/>
          </a:prstGeom>
          <a:noFill/>
          <a:ln/>
        </p:spPr>
        <p:txBody>
          <a:bodyPr wrap="square" lIns="0" tIns="0" rIns="0" bIns="0" rtlCol="0" anchor="ctr"/>
          <a:lstStyle/>
          <a:p>
            <a:pPr marL="0" indent="0">
              <a:buNone/>
            </a:pPr>
            <a:r>
              <a:rPr lang="en-US" sz="1350" dirty="0">
                <a:solidFill>
                  <a:srgbClr val="1B2338"/>
                </a:solidFill>
                <a:latin typeface="Calibri" pitchFamily="34" charset="0"/>
                <a:ea typeface="Calibri" pitchFamily="34" charset="-122"/>
                <a:cs typeface="Calibri" pitchFamily="34" charset="-120"/>
              </a:rPr>
              <a:t>Compare category-wise sales</a:t>
            </a:r>
            <a:endParaRPr lang="en-US" sz="1350" dirty="0"/>
          </a:p>
        </p:txBody>
      </p:sp>
      <p:sp>
        <p:nvSpPr>
          <p:cNvPr id="28" name="Shape 22"/>
          <p:cNvSpPr/>
          <p:nvPr/>
        </p:nvSpPr>
        <p:spPr>
          <a:xfrm>
            <a:off x="6035040" y="4073652"/>
            <a:ext cx="5605272" cy="489204"/>
          </a:xfrm>
          <a:prstGeom prst="roundRect">
            <a:avLst>
              <a:gd name="adj" fmla="val 13084"/>
            </a:avLst>
          </a:prstGeom>
          <a:solidFill>
            <a:srgbClr val="FFFFFF"/>
          </a:solidFill>
          <a:ln/>
          <a:effectLst>
            <a:outerShdw blurRad="76200" dist="25400" dir="5400000" algn="bl" rotWithShape="0">
              <a:srgbClr val="1B2A56">
                <a:alpha val="6000"/>
              </a:srgbClr>
            </a:outerShdw>
          </a:effectLst>
        </p:spPr>
      </p:sp>
      <p:sp>
        <p:nvSpPr>
          <p:cNvPr id="29" name="Shape 23"/>
          <p:cNvSpPr/>
          <p:nvPr/>
        </p:nvSpPr>
        <p:spPr>
          <a:xfrm>
            <a:off x="6245352" y="4126230"/>
            <a:ext cx="384048" cy="384048"/>
          </a:xfrm>
          <a:prstGeom prst="ellipse">
            <a:avLst/>
          </a:prstGeom>
          <a:solidFill>
            <a:srgbClr val="1B2A56"/>
          </a:solidFill>
          <a:ln/>
        </p:spPr>
      </p:sp>
      <p:pic>
        <p:nvPicPr>
          <p:cNvPr id="30" name="Image 4" descr="preencoded.png"/>
          <p:cNvPicPr>
            <a:picLocks noChangeAspect="1"/>
          </p:cNvPicPr>
          <p:nvPr/>
        </p:nvPicPr>
        <p:blipFill>
          <a:blip r:embed="rId7"/>
          <a:stretch>
            <a:fillRect/>
          </a:stretch>
        </p:blipFill>
        <p:spPr>
          <a:xfrm>
            <a:off x="6341364" y="4222242"/>
            <a:ext cx="192024" cy="192024"/>
          </a:xfrm>
          <a:prstGeom prst="rect">
            <a:avLst/>
          </a:prstGeom>
        </p:spPr>
      </p:pic>
      <p:sp>
        <p:nvSpPr>
          <p:cNvPr id="31" name="Text 24"/>
          <p:cNvSpPr/>
          <p:nvPr/>
        </p:nvSpPr>
        <p:spPr>
          <a:xfrm>
            <a:off x="6784848" y="4073652"/>
            <a:ext cx="4599432" cy="489204"/>
          </a:xfrm>
          <a:prstGeom prst="rect">
            <a:avLst/>
          </a:prstGeom>
          <a:noFill/>
          <a:ln/>
        </p:spPr>
        <p:txBody>
          <a:bodyPr wrap="square" lIns="0" tIns="0" rIns="0" bIns="0" rtlCol="0" anchor="ctr"/>
          <a:lstStyle/>
          <a:p>
            <a:pPr marL="0" indent="0">
              <a:buNone/>
            </a:pPr>
            <a:r>
              <a:rPr lang="en-US" sz="1350" dirty="0">
                <a:solidFill>
                  <a:srgbClr val="1B2338"/>
                </a:solidFill>
                <a:latin typeface="Calibri" pitchFamily="34" charset="0"/>
                <a:ea typeface="Calibri" pitchFamily="34" charset="-122"/>
                <a:cs typeface="Calibri" pitchFamily="34" charset="-120"/>
              </a:rPr>
              <a:t>Identify profitable sub-categories</a:t>
            </a:r>
            <a:endParaRPr lang="en-US" sz="1350" dirty="0"/>
          </a:p>
        </p:txBody>
      </p:sp>
      <p:sp>
        <p:nvSpPr>
          <p:cNvPr id="32" name="Shape 25"/>
          <p:cNvSpPr/>
          <p:nvPr/>
        </p:nvSpPr>
        <p:spPr>
          <a:xfrm>
            <a:off x="6035040" y="4681728"/>
            <a:ext cx="5605272" cy="489204"/>
          </a:xfrm>
          <a:prstGeom prst="roundRect">
            <a:avLst>
              <a:gd name="adj" fmla="val 13084"/>
            </a:avLst>
          </a:prstGeom>
          <a:solidFill>
            <a:srgbClr val="FFFFFF"/>
          </a:solidFill>
          <a:ln/>
          <a:effectLst>
            <a:outerShdw blurRad="76200" dist="25400" dir="5400000" algn="bl" rotWithShape="0">
              <a:srgbClr val="1B2A56">
                <a:alpha val="6000"/>
              </a:srgbClr>
            </a:outerShdw>
          </a:effectLst>
        </p:spPr>
      </p:sp>
      <p:sp>
        <p:nvSpPr>
          <p:cNvPr id="33" name="Shape 26"/>
          <p:cNvSpPr/>
          <p:nvPr/>
        </p:nvSpPr>
        <p:spPr>
          <a:xfrm>
            <a:off x="6245352" y="4734306"/>
            <a:ext cx="384048" cy="384048"/>
          </a:xfrm>
          <a:prstGeom prst="ellipse">
            <a:avLst/>
          </a:prstGeom>
          <a:solidFill>
            <a:srgbClr val="8B5FBF"/>
          </a:solidFill>
          <a:ln/>
        </p:spPr>
      </p:sp>
      <p:pic>
        <p:nvPicPr>
          <p:cNvPr id="34" name="Image 5" descr="preencoded.png"/>
          <p:cNvPicPr>
            <a:picLocks noChangeAspect="1"/>
          </p:cNvPicPr>
          <p:nvPr/>
        </p:nvPicPr>
        <p:blipFill>
          <a:blip r:embed="rId8"/>
          <a:stretch>
            <a:fillRect/>
          </a:stretch>
        </p:blipFill>
        <p:spPr>
          <a:xfrm>
            <a:off x="6341364" y="4830318"/>
            <a:ext cx="192024" cy="192024"/>
          </a:xfrm>
          <a:prstGeom prst="rect">
            <a:avLst/>
          </a:prstGeom>
        </p:spPr>
      </p:pic>
      <p:sp>
        <p:nvSpPr>
          <p:cNvPr id="35" name="Text 27"/>
          <p:cNvSpPr/>
          <p:nvPr/>
        </p:nvSpPr>
        <p:spPr>
          <a:xfrm>
            <a:off x="6784848" y="4681728"/>
            <a:ext cx="4599432" cy="489204"/>
          </a:xfrm>
          <a:prstGeom prst="rect">
            <a:avLst/>
          </a:prstGeom>
          <a:noFill/>
          <a:ln/>
        </p:spPr>
        <p:txBody>
          <a:bodyPr wrap="square" lIns="0" tIns="0" rIns="0" bIns="0" rtlCol="0" anchor="ctr"/>
          <a:lstStyle/>
          <a:p>
            <a:pPr marL="0" indent="0">
              <a:buNone/>
            </a:pPr>
            <a:r>
              <a:rPr lang="en-US" sz="1350" dirty="0">
                <a:solidFill>
                  <a:srgbClr val="1B2338"/>
                </a:solidFill>
                <a:latin typeface="Calibri" pitchFamily="34" charset="0"/>
                <a:ea typeface="Calibri" pitchFamily="34" charset="-122"/>
                <a:cs typeface="Calibri" pitchFamily="34" charset="-120"/>
              </a:rPr>
              <a:t>Analyze sales trends over time</a:t>
            </a:r>
            <a:endParaRPr lang="en-US" sz="1350" dirty="0"/>
          </a:p>
        </p:txBody>
      </p:sp>
      <p:sp>
        <p:nvSpPr>
          <p:cNvPr id="36" name="Shape 28"/>
          <p:cNvSpPr/>
          <p:nvPr/>
        </p:nvSpPr>
        <p:spPr>
          <a:xfrm>
            <a:off x="6035040" y="5289804"/>
            <a:ext cx="5605272" cy="489204"/>
          </a:xfrm>
          <a:prstGeom prst="roundRect">
            <a:avLst>
              <a:gd name="adj" fmla="val 13084"/>
            </a:avLst>
          </a:prstGeom>
          <a:solidFill>
            <a:srgbClr val="FFFFFF"/>
          </a:solidFill>
          <a:ln/>
          <a:effectLst>
            <a:outerShdw blurRad="76200" dist="25400" dir="5400000" algn="bl" rotWithShape="0">
              <a:srgbClr val="1B2A56">
                <a:alpha val="6000"/>
              </a:srgbClr>
            </a:outerShdw>
          </a:effectLst>
        </p:spPr>
      </p:sp>
      <p:sp>
        <p:nvSpPr>
          <p:cNvPr id="37" name="Shape 29"/>
          <p:cNvSpPr/>
          <p:nvPr/>
        </p:nvSpPr>
        <p:spPr>
          <a:xfrm>
            <a:off x="6245352" y="5342382"/>
            <a:ext cx="384048" cy="384048"/>
          </a:xfrm>
          <a:prstGeom prst="ellipse">
            <a:avLst/>
          </a:prstGeom>
          <a:solidFill>
            <a:srgbClr val="12A594"/>
          </a:solidFill>
          <a:ln/>
        </p:spPr>
      </p:sp>
      <p:pic>
        <p:nvPicPr>
          <p:cNvPr id="38" name="Image 6" descr="preencoded.png"/>
          <p:cNvPicPr>
            <a:picLocks noChangeAspect="1"/>
          </p:cNvPicPr>
          <p:nvPr/>
        </p:nvPicPr>
        <p:blipFill>
          <a:blip r:embed="rId9"/>
          <a:stretch>
            <a:fillRect/>
          </a:stretch>
        </p:blipFill>
        <p:spPr>
          <a:xfrm>
            <a:off x="6341364" y="5438394"/>
            <a:ext cx="192024" cy="192024"/>
          </a:xfrm>
          <a:prstGeom prst="rect">
            <a:avLst/>
          </a:prstGeom>
        </p:spPr>
      </p:pic>
      <p:sp>
        <p:nvSpPr>
          <p:cNvPr id="39" name="Text 30"/>
          <p:cNvSpPr/>
          <p:nvPr/>
        </p:nvSpPr>
        <p:spPr>
          <a:xfrm>
            <a:off x="6784848" y="5289804"/>
            <a:ext cx="4599432" cy="489204"/>
          </a:xfrm>
          <a:prstGeom prst="rect">
            <a:avLst/>
          </a:prstGeom>
          <a:noFill/>
          <a:ln/>
        </p:spPr>
        <p:txBody>
          <a:bodyPr wrap="square" lIns="0" tIns="0" rIns="0" bIns="0" rtlCol="0" anchor="ctr"/>
          <a:lstStyle/>
          <a:p>
            <a:pPr marL="0" indent="0">
              <a:buNone/>
            </a:pPr>
            <a:r>
              <a:rPr lang="en-US" sz="1350" dirty="0">
                <a:solidFill>
                  <a:srgbClr val="1B2338"/>
                </a:solidFill>
                <a:latin typeface="Calibri" pitchFamily="34" charset="0"/>
                <a:ea typeface="Calibri" pitchFamily="34" charset="-122"/>
                <a:cs typeface="Calibri" pitchFamily="34" charset="-120"/>
              </a:rPr>
              <a:t>Evaluate regional sales performance</a:t>
            </a:r>
            <a:endParaRPr lang="en-US" sz="1350" dirty="0"/>
          </a:p>
        </p:txBody>
      </p:sp>
      <p:sp>
        <p:nvSpPr>
          <p:cNvPr id="40" name="Text 31"/>
          <p:cNvSpPr/>
          <p:nvPr/>
        </p:nvSpPr>
        <p:spPr>
          <a:xfrm>
            <a:off x="548640" y="6492240"/>
            <a:ext cx="5486400" cy="23774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Superstore Sales Performance Dashboard</a:t>
            </a:r>
            <a:endParaRPr lang="en-US" sz="900" dirty="0"/>
          </a:p>
        </p:txBody>
      </p:sp>
      <p:sp>
        <p:nvSpPr>
          <p:cNvPr id="41" name="Text 32"/>
          <p:cNvSpPr/>
          <p:nvPr/>
        </p:nvSpPr>
        <p:spPr>
          <a:xfrm>
            <a:off x="10451592" y="6492240"/>
            <a:ext cx="118872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02 / 09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20624"/>
            <a:ext cx="9144000" cy="274320"/>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02   ·   TOOLS &amp; DATASET</a:t>
            </a:r>
            <a:endParaRPr lang="en-US" sz="1200" dirty="0"/>
          </a:p>
        </p:txBody>
      </p:sp>
      <p:sp>
        <p:nvSpPr>
          <p:cNvPr id="3" name="Text 1"/>
          <p:cNvSpPr/>
          <p:nvPr/>
        </p:nvSpPr>
        <p:spPr>
          <a:xfrm>
            <a:off x="548640" y="676656"/>
            <a:ext cx="9601200" cy="566928"/>
          </a:xfrm>
          <a:prstGeom prst="rect">
            <a:avLst/>
          </a:prstGeom>
          <a:noFill/>
          <a:ln/>
        </p:spPr>
        <p:txBody>
          <a:bodyPr wrap="square" lIns="0" tIns="0" rIns="0" bIns="0" rtlCol="0" anchor="ctr"/>
          <a:lstStyle/>
          <a:p>
            <a:pPr marL="0" indent="0">
              <a:buNone/>
            </a:pPr>
            <a:r>
              <a:rPr lang="en-US" sz="3000" b="1" dirty="0">
                <a:solidFill>
                  <a:srgbClr val="1B2A56"/>
                </a:solidFill>
                <a:latin typeface="Cambria" pitchFamily="34" charset="0"/>
                <a:ea typeface="Cambria" pitchFamily="34" charset="-122"/>
                <a:cs typeface="Cambria" pitchFamily="34" charset="-120"/>
              </a:rPr>
              <a:t>Tools &amp; Dataset</a:t>
            </a:r>
            <a:endParaRPr lang="en-US" sz="3000" dirty="0"/>
          </a:p>
        </p:txBody>
      </p:sp>
      <p:sp>
        <p:nvSpPr>
          <p:cNvPr id="4" name="Text 2"/>
          <p:cNvSpPr/>
          <p:nvPr/>
        </p:nvSpPr>
        <p:spPr>
          <a:xfrm>
            <a:off x="548640" y="1600200"/>
            <a:ext cx="5029200" cy="384048"/>
          </a:xfrm>
          <a:prstGeom prst="rect">
            <a:avLst/>
          </a:prstGeom>
          <a:noFill/>
          <a:ln/>
        </p:spPr>
        <p:txBody>
          <a:bodyPr wrap="square" lIns="0" tIns="0" rIns="0" bIns="0" rtlCol="0" anchor="ctr"/>
          <a:lstStyle/>
          <a:p>
            <a:pPr marL="0" indent="0">
              <a:buNone/>
            </a:pPr>
            <a:r>
              <a:rPr lang="en-US" sz="1900" b="1" dirty="0">
                <a:solidFill>
                  <a:srgbClr val="1B2A56"/>
                </a:solidFill>
                <a:latin typeface="Cambria" pitchFamily="34" charset="0"/>
                <a:ea typeface="Cambria" pitchFamily="34" charset="-122"/>
                <a:cs typeface="Cambria" pitchFamily="34" charset="-120"/>
              </a:rPr>
              <a:t>Tools Used</a:t>
            </a:r>
            <a:endParaRPr lang="en-US" sz="1900" dirty="0"/>
          </a:p>
        </p:txBody>
      </p:sp>
      <p:sp>
        <p:nvSpPr>
          <p:cNvPr id="5" name="Shape 3"/>
          <p:cNvSpPr/>
          <p:nvPr/>
        </p:nvSpPr>
        <p:spPr>
          <a:xfrm>
            <a:off x="548640" y="2194560"/>
            <a:ext cx="2400300" cy="1874520"/>
          </a:xfrm>
          <a:prstGeom prst="roundRect">
            <a:avLst>
              <a:gd name="adj" fmla="val 4390"/>
            </a:avLst>
          </a:prstGeom>
          <a:solidFill>
            <a:srgbClr val="FFFFFF"/>
          </a:solidFill>
          <a:ln/>
          <a:effectLst>
            <a:outerShdw blurRad="114300" dist="38100" dir="5400000" algn="bl" rotWithShape="0">
              <a:srgbClr val="1B2A56">
                <a:alpha val="10000"/>
              </a:srgbClr>
            </a:outerShdw>
          </a:effectLst>
        </p:spPr>
      </p:sp>
      <p:sp>
        <p:nvSpPr>
          <p:cNvPr id="6" name="Shape 4"/>
          <p:cNvSpPr/>
          <p:nvPr/>
        </p:nvSpPr>
        <p:spPr>
          <a:xfrm>
            <a:off x="1492758" y="2505456"/>
            <a:ext cx="512064" cy="512064"/>
          </a:xfrm>
          <a:prstGeom prst="ellipse">
            <a:avLst/>
          </a:prstGeom>
          <a:solidFill>
            <a:srgbClr val="1B2A56"/>
          </a:solidFill>
          <a:ln/>
        </p:spPr>
      </p:sp>
      <p:pic>
        <p:nvPicPr>
          <p:cNvPr id="7" name="Image 0" descr="preencoded.png"/>
          <p:cNvPicPr>
            <a:picLocks noChangeAspect="1"/>
          </p:cNvPicPr>
          <p:nvPr/>
        </p:nvPicPr>
        <p:blipFill>
          <a:blip r:embed="rId3"/>
          <a:stretch>
            <a:fillRect/>
          </a:stretch>
        </p:blipFill>
        <p:spPr>
          <a:xfrm>
            <a:off x="1625895" y="2638593"/>
            <a:ext cx="245791" cy="245791"/>
          </a:xfrm>
          <a:prstGeom prst="rect">
            <a:avLst/>
          </a:prstGeom>
        </p:spPr>
      </p:pic>
      <p:sp>
        <p:nvSpPr>
          <p:cNvPr id="8" name="Text 5"/>
          <p:cNvSpPr/>
          <p:nvPr/>
        </p:nvSpPr>
        <p:spPr>
          <a:xfrm>
            <a:off x="658368" y="3154680"/>
            <a:ext cx="2180844" cy="365760"/>
          </a:xfrm>
          <a:prstGeom prst="rect">
            <a:avLst/>
          </a:prstGeom>
          <a:noFill/>
          <a:ln/>
        </p:spPr>
        <p:txBody>
          <a:bodyPr wrap="square" lIns="0" tIns="0" rIns="0" bIns="0" rtlCol="0" anchor="ctr"/>
          <a:lstStyle/>
          <a:p>
            <a:pPr marL="0" indent="0" algn="ctr">
              <a:buNone/>
            </a:pPr>
            <a:r>
              <a:rPr lang="en-US" sz="1350" b="1" dirty="0">
                <a:solidFill>
                  <a:srgbClr val="1B2A56"/>
                </a:solidFill>
                <a:latin typeface="Calibri" pitchFamily="34" charset="0"/>
                <a:ea typeface="Calibri" pitchFamily="34" charset="-122"/>
                <a:cs typeface="Calibri" pitchFamily="34" charset="-120"/>
              </a:rPr>
              <a:t>Microsoft Power BI</a:t>
            </a:r>
            <a:endParaRPr lang="en-US" sz="1350" dirty="0"/>
          </a:p>
        </p:txBody>
      </p:sp>
      <p:sp>
        <p:nvSpPr>
          <p:cNvPr id="9" name="Text 6"/>
          <p:cNvSpPr/>
          <p:nvPr/>
        </p:nvSpPr>
        <p:spPr>
          <a:xfrm>
            <a:off x="713232" y="3547872"/>
            <a:ext cx="2071116" cy="45720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Data Visualization &amp; Reporting</a:t>
            </a:r>
            <a:endParaRPr lang="en-US" sz="1000" dirty="0"/>
          </a:p>
        </p:txBody>
      </p:sp>
      <p:sp>
        <p:nvSpPr>
          <p:cNvPr id="10" name="Shape 7"/>
          <p:cNvSpPr/>
          <p:nvPr/>
        </p:nvSpPr>
        <p:spPr>
          <a:xfrm>
            <a:off x="3177540" y="2194560"/>
            <a:ext cx="2400300" cy="1874520"/>
          </a:xfrm>
          <a:prstGeom prst="roundRect">
            <a:avLst>
              <a:gd name="adj" fmla="val 4390"/>
            </a:avLst>
          </a:prstGeom>
          <a:solidFill>
            <a:srgbClr val="FFFFFF"/>
          </a:solidFill>
          <a:ln/>
          <a:effectLst>
            <a:outerShdw blurRad="114300" dist="38100" dir="5400000" algn="bl" rotWithShape="0">
              <a:srgbClr val="1B2A56">
                <a:alpha val="10000"/>
              </a:srgbClr>
            </a:outerShdw>
          </a:effectLst>
        </p:spPr>
      </p:sp>
      <p:sp>
        <p:nvSpPr>
          <p:cNvPr id="11" name="Shape 8"/>
          <p:cNvSpPr/>
          <p:nvPr/>
        </p:nvSpPr>
        <p:spPr>
          <a:xfrm>
            <a:off x="4121658" y="2505456"/>
            <a:ext cx="512064" cy="512064"/>
          </a:xfrm>
          <a:prstGeom prst="ellipse">
            <a:avLst/>
          </a:prstGeom>
          <a:solidFill>
            <a:srgbClr val="12A594"/>
          </a:solidFill>
          <a:ln/>
        </p:spPr>
      </p:sp>
      <p:pic>
        <p:nvPicPr>
          <p:cNvPr id="12" name="Image 1" descr="preencoded.png"/>
          <p:cNvPicPr>
            <a:picLocks noChangeAspect="1"/>
          </p:cNvPicPr>
          <p:nvPr/>
        </p:nvPicPr>
        <p:blipFill>
          <a:blip r:embed="rId4"/>
          <a:stretch>
            <a:fillRect/>
          </a:stretch>
        </p:blipFill>
        <p:spPr>
          <a:xfrm>
            <a:off x="4254795" y="2638593"/>
            <a:ext cx="245791" cy="245791"/>
          </a:xfrm>
          <a:prstGeom prst="rect">
            <a:avLst/>
          </a:prstGeom>
        </p:spPr>
      </p:pic>
      <p:sp>
        <p:nvSpPr>
          <p:cNvPr id="13" name="Text 9"/>
          <p:cNvSpPr/>
          <p:nvPr/>
        </p:nvSpPr>
        <p:spPr>
          <a:xfrm>
            <a:off x="3287268" y="3154680"/>
            <a:ext cx="2180844" cy="365760"/>
          </a:xfrm>
          <a:prstGeom prst="rect">
            <a:avLst/>
          </a:prstGeom>
          <a:noFill/>
          <a:ln/>
        </p:spPr>
        <p:txBody>
          <a:bodyPr wrap="square" lIns="0" tIns="0" rIns="0" bIns="0" rtlCol="0" anchor="ctr"/>
          <a:lstStyle/>
          <a:p>
            <a:pPr marL="0" indent="0" algn="ctr">
              <a:buNone/>
            </a:pPr>
            <a:r>
              <a:rPr lang="en-US" sz="1350" b="1" dirty="0">
                <a:solidFill>
                  <a:srgbClr val="1B2A56"/>
                </a:solidFill>
                <a:latin typeface="Calibri" pitchFamily="34" charset="0"/>
                <a:ea typeface="Calibri" pitchFamily="34" charset="-122"/>
                <a:cs typeface="Calibri" pitchFamily="34" charset="-120"/>
              </a:rPr>
              <a:t>Power Query</a:t>
            </a:r>
            <a:endParaRPr lang="en-US" sz="1350" dirty="0"/>
          </a:p>
        </p:txBody>
      </p:sp>
      <p:sp>
        <p:nvSpPr>
          <p:cNvPr id="14" name="Text 10"/>
          <p:cNvSpPr/>
          <p:nvPr/>
        </p:nvSpPr>
        <p:spPr>
          <a:xfrm>
            <a:off x="3342132" y="3547872"/>
            <a:ext cx="2071116" cy="45720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Data Cleaning &amp; Transformation</a:t>
            </a:r>
            <a:endParaRPr lang="en-US" sz="1000" dirty="0"/>
          </a:p>
        </p:txBody>
      </p:sp>
      <p:sp>
        <p:nvSpPr>
          <p:cNvPr id="15" name="Shape 11"/>
          <p:cNvSpPr/>
          <p:nvPr/>
        </p:nvSpPr>
        <p:spPr>
          <a:xfrm>
            <a:off x="548640" y="4297680"/>
            <a:ext cx="2400300" cy="1874520"/>
          </a:xfrm>
          <a:prstGeom prst="roundRect">
            <a:avLst>
              <a:gd name="adj" fmla="val 4390"/>
            </a:avLst>
          </a:prstGeom>
          <a:solidFill>
            <a:srgbClr val="FFFFFF"/>
          </a:solidFill>
          <a:ln/>
          <a:effectLst>
            <a:outerShdw blurRad="114300" dist="38100" dir="5400000" algn="bl" rotWithShape="0">
              <a:srgbClr val="1B2A56">
                <a:alpha val="10000"/>
              </a:srgbClr>
            </a:outerShdw>
          </a:effectLst>
        </p:spPr>
      </p:sp>
      <p:sp>
        <p:nvSpPr>
          <p:cNvPr id="16" name="Shape 12"/>
          <p:cNvSpPr/>
          <p:nvPr/>
        </p:nvSpPr>
        <p:spPr>
          <a:xfrm>
            <a:off x="1492758" y="4608576"/>
            <a:ext cx="512064" cy="512064"/>
          </a:xfrm>
          <a:prstGeom prst="ellipse">
            <a:avLst/>
          </a:prstGeom>
          <a:solidFill>
            <a:srgbClr val="8B5FBF"/>
          </a:solidFill>
          <a:ln/>
        </p:spPr>
      </p:sp>
      <p:pic>
        <p:nvPicPr>
          <p:cNvPr id="17" name="Image 2" descr="preencoded.png"/>
          <p:cNvPicPr>
            <a:picLocks noChangeAspect="1"/>
          </p:cNvPicPr>
          <p:nvPr/>
        </p:nvPicPr>
        <p:blipFill>
          <a:blip r:embed="rId5"/>
          <a:stretch>
            <a:fillRect/>
          </a:stretch>
        </p:blipFill>
        <p:spPr>
          <a:xfrm>
            <a:off x="1625895" y="4741713"/>
            <a:ext cx="245791" cy="245791"/>
          </a:xfrm>
          <a:prstGeom prst="rect">
            <a:avLst/>
          </a:prstGeom>
        </p:spPr>
      </p:pic>
      <p:sp>
        <p:nvSpPr>
          <p:cNvPr id="18" name="Text 13"/>
          <p:cNvSpPr/>
          <p:nvPr/>
        </p:nvSpPr>
        <p:spPr>
          <a:xfrm>
            <a:off x="658368" y="5257800"/>
            <a:ext cx="2180844" cy="365760"/>
          </a:xfrm>
          <a:prstGeom prst="rect">
            <a:avLst/>
          </a:prstGeom>
          <a:noFill/>
          <a:ln/>
        </p:spPr>
        <p:txBody>
          <a:bodyPr wrap="square" lIns="0" tIns="0" rIns="0" bIns="0" rtlCol="0" anchor="ctr"/>
          <a:lstStyle/>
          <a:p>
            <a:pPr marL="0" indent="0" algn="ctr">
              <a:buNone/>
            </a:pPr>
            <a:r>
              <a:rPr lang="en-US" sz="1350" b="1" dirty="0">
                <a:solidFill>
                  <a:srgbClr val="1B2A56"/>
                </a:solidFill>
                <a:latin typeface="Calibri" pitchFamily="34" charset="0"/>
                <a:ea typeface="Calibri" pitchFamily="34" charset="-122"/>
                <a:cs typeface="Calibri" pitchFamily="34" charset="-120"/>
              </a:rPr>
              <a:t>DAX</a:t>
            </a:r>
            <a:endParaRPr lang="en-US" sz="1350" dirty="0"/>
          </a:p>
        </p:txBody>
      </p:sp>
      <p:sp>
        <p:nvSpPr>
          <p:cNvPr id="19" name="Text 14"/>
          <p:cNvSpPr/>
          <p:nvPr/>
        </p:nvSpPr>
        <p:spPr>
          <a:xfrm>
            <a:off x="713232" y="5650992"/>
            <a:ext cx="2071116" cy="45720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Custom Calculations &amp; Measures</a:t>
            </a:r>
            <a:endParaRPr lang="en-US" sz="1000" dirty="0"/>
          </a:p>
        </p:txBody>
      </p:sp>
      <p:sp>
        <p:nvSpPr>
          <p:cNvPr id="20" name="Shape 15"/>
          <p:cNvSpPr/>
          <p:nvPr/>
        </p:nvSpPr>
        <p:spPr>
          <a:xfrm>
            <a:off x="3177540" y="4297680"/>
            <a:ext cx="2400300" cy="1874520"/>
          </a:xfrm>
          <a:prstGeom prst="roundRect">
            <a:avLst>
              <a:gd name="adj" fmla="val 4390"/>
            </a:avLst>
          </a:prstGeom>
          <a:solidFill>
            <a:srgbClr val="FFFFFF"/>
          </a:solidFill>
          <a:ln/>
          <a:effectLst>
            <a:outerShdw blurRad="114300" dist="38100" dir="5400000" algn="bl" rotWithShape="0">
              <a:srgbClr val="1B2A56">
                <a:alpha val="10000"/>
              </a:srgbClr>
            </a:outerShdw>
          </a:effectLst>
        </p:spPr>
      </p:sp>
      <p:sp>
        <p:nvSpPr>
          <p:cNvPr id="21" name="Shape 16"/>
          <p:cNvSpPr/>
          <p:nvPr/>
        </p:nvSpPr>
        <p:spPr>
          <a:xfrm>
            <a:off x="4121658" y="4608576"/>
            <a:ext cx="512064" cy="512064"/>
          </a:xfrm>
          <a:prstGeom prst="ellipse">
            <a:avLst/>
          </a:prstGeom>
          <a:solidFill>
            <a:srgbClr val="1B2A56"/>
          </a:solidFill>
          <a:ln/>
        </p:spPr>
      </p:sp>
      <p:pic>
        <p:nvPicPr>
          <p:cNvPr id="22" name="Image 3" descr="preencoded.png"/>
          <p:cNvPicPr>
            <a:picLocks noChangeAspect="1"/>
          </p:cNvPicPr>
          <p:nvPr/>
        </p:nvPicPr>
        <p:blipFill>
          <a:blip r:embed="rId6"/>
          <a:stretch>
            <a:fillRect/>
          </a:stretch>
        </p:blipFill>
        <p:spPr>
          <a:xfrm>
            <a:off x="4254795" y="4741713"/>
            <a:ext cx="245791" cy="245791"/>
          </a:xfrm>
          <a:prstGeom prst="rect">
            <a:avLst/>
          </a:prstGeom>
        </p:spPr>
      </p:pic>
      <p:sp>
        <p:nvSpPr>
          <p:cNvPr id="23" name="Text 17"/>
          <p:cNvSpPr/>
          <p:nvPr/>
        </p:nvSpPr>
        <p:spPr>
          <a:xfrm>
            <a:off x="3287268" y="5257800"/>
            <a:ext cx="2180844" cy="365760"/>
          </a:xfrm>
          <a:prstGeom prst="rect">
            <a:avLst/>
          </a:prstGeom>
          <a:noFill/>
          <a:ln/>
        </p:spPr>
        <p:txBody>
          <a:bodyPr wrap="square" lIns="0" tIns="0" rIns="0" bIns="0" rtlCol="0" anchor="ctr"/>
          <a:lstStyle/>
          <a:p>
            <a:pPr marL="0" indent="0" algn="ctr">
              <a:buNone/>
            </a:pPr>
            <a:r>
              <a:rPr lang="en-US" sz="1350" b="1" dirty="0">
                <a:solidFill>
                  <a:srgbClr val="1B2A56"/>
                </a:solidFill>
                <a:latin typeface="Calibri" pitchFamily="34" charset="0"/>
                <a:ea typeface="Calibri" pitchFamily="34" charset="-122"/>
                <a:cs typeface="Calibri" pitchFamily="34" charset="-120"/>
              </a:rPr>
              <a:t>CSV Dataset</a:t>
            </a:r>
            <a:endParaRPr lang="en-US" sz="1350" dirty="0"/>
          </a:p>
        </p:txBody>
      </p:sp>
      <p:sp>
        <p:nvSpPr>
          <p:cNvPr id="24" name="Text 18"/>
          <p:cNvSpPr/>
          <p:nvPr/>
        </p:nvSpPr>
        <p:spPr>
          <a:xfrm>
            <a:off x="3342132" y="5650992"/>
            <a:ext cx="2071116" cy="45720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Source Data Format</a:t>
            </a:r>
            <a:endParaRPr lang="en-US" sz="1000" dirty="0"/>
          </a:p>
        </p:txBody>
      </p:sp>
      <p:sp>
        <p:nvSpPr>
          <p:cNvPr id="25" name="Text 19"/>
          <p:cNvSpPr/>
          <p:nvPr/>
        </p:nvSpPr>
        <p:spPr>
          <a:xfrm>
            <a:off x="5852160" y="1600200"/>
            <a:ext cx="5788152" cy="384048"/>
          </a:xfrm>
          <a:prstGeom prst="rect">
            <a:avLst/>
          </a:prstGeom>
          <a:noFill/>
          <a:ln/>
        </p:spPr>
        <p:txBody>
          <a:bodyPr wrap="square" lIns="0" tIns="0" rIns="0" bIns="0" rtlCol="0" anchor="ctr"/>
          <a:lstStyle/>
          <a:p>
            <a:pPr marL="0" indent="0">
              <a:buNone/>
            </a:pPr>
            <a:r>
              <a:rPr lang="en-US" sz="1900" b="1" dirty="0">
                <a:solidFill>
                  <a:srgbClr val="1B2A56"/>
                </a:solidFill>
                <a:latin typeface="Cambria" pitchFamily="34" charset="0"/>
                <a:ea typeface="Cambria" pitchFamily="34" charset="-122"/>
                <a:cs typeface="Cambria" pitchFamily="34" charset="-120"/>
              </a:rPr>
              <a:t>Dataset Information</a:t>
            </a:r>
            <a:endParaRPr lang="en-US" sz="1900" dirty="0"/>
          </a:p>
        </p:txBody>
      </p:sp>
      <p:sp>
        <p:nvSpPr>
          <p:cNvPr id="26" name="Shape 20"/>
          <p:cNvSpPr/>
          <p:nvPr/>
        </p:nvSpPr>
        <p:spPr>
          <a:xfrm>
            <a:off x="5852160" y="2194560"/>
            <a:ext cx="5788152" cy="2331720"/>
          </a:xfrm>
          <a:prstGeom prst="roundRect">
            <a:avLst>
              <a:gd name="adj" fmla="val 3529"/>
            </a:avLst>
          </a:prstGeom>
          <a:solidFill>
            <a:srgbClr val="FFFFFF"/>
          </a:solidFill>
          <a:ln/>
          <a:effectLst>
            <a:outerShdw blurRad="114300" dist="38100" dir="5400000" algn="bl" rotWithShape="0">
              <a:srgbClr val="1B2A56">
                <a:alpha val="10000"/>
              </a:srgbClr>
            </a:outerShdw>
          </a:effectLst>
        </p:spPr>
      </p:sp>
      <p:sp>
        <p:nvSpPr>
          <p:cNvPr id="27" name="Shape 21"/>
          <p:cNvSpPr/>
          <p:nvPr/>
        </p:nvSpPr>
        <p:spPr>
          <a:xfrm>
            <a:off x="6227064" y="2363724"/>
            <a:ext cx="438912" cy="438912"/>
          </a:xfrm>
          <a:prstGeom prst="ellipse">
            <a:avLst/>
          </a:prstGeom>
          <a:solidFill>
            <a:srgbClr val="1B2A56"/>
          </a:solidFill>
          <a:ln/>
        </p:spPr>
      </p:sp>
      <p:pic>
        <p:nvPicPr>
          <p:cNvPr id="28" name="Image 4" descr="preencoded.png"/>
          <p:cNvPicPr>
            <a:picLocks noChangeAspect="1"/>
          </p:cNvPicPr>
          <p:nvPr/>
        </p:nvPicPr>
        <p:blipFill>
          <a:blip r:embed="rId7"/>
          <a:stretch>
            <a:fillRect/>
          </a:stretch>
        </p:blipFill>
        <p:spPr>
          <a:xfrm>
            <a:off x="6341181" y="2477841"/>
            <a:ext cx="210678" cy="210678"/>
          </a:xfrm>
          <a:prstGeom prst="rect">
            <a:avLst/>
          </a:prstGeom>
        </p:spPr>
      </p:pic>
      <p:sp>
        <p:nvSpPr>
          <p:cNvPr id="29" name="Text 22"/>
          <p:cNvSpPr/>
          <p:nvPr/>
        </p:nvSpPr>
        <p:spPr>
          <a:xfrm>
            <a:off x="6812280" y="2290572"/>
            <a:ext cx="4507992" cy="585216"/>
          </a:xfrm>
          <a:prstGeom prst="rect">
            <a:avLst/>
          </a:prstGeom>
          <a:noFill/>
          <a:ln/>
        </p:spPr>
        <p:txBody>
          <a:bodyPr wrap="square" lIns="0" tIns="0" rIns="0" bIns="0" rtlCol="0" anchor="ctr"/>
          <a:lstStyle/>
          <a:p>
            <a:pPr marL="0" indent="0">
              <a:buNone/>
            </a:pPr>
            <a:r>
              <a:rPr lang="en-US" sz="950" b="1" kern="0" spc="100" dirty="0">
                <a:solidFill>
                  <a:srgbClr val="64748B"/>
                </a:solidFill>
                <a:latin typeface="Calibri" pitchFamily="34" charset="0"/>
                <a:ea typeface="Calibri" pitchFamily="34" charset="-122"/>
                <a:cs typeface="Calibri" pitchFamily="34" charset="-120"/>
              </a:rPr>
              <a:t>DATASET</a:t>
            </a:r>
            <a:endParaRPr lang="en-US" sz="950" dirty="0"/>
          </a:p>
          <a:p>
            <a:pPr marL="0" indent="0">
              <a:buNone/>
            </a:pPr>
            <a:r>
              <a:rPr lang="en-US" sz="1500" b="1" dirty="0">
                <a:solidFill>
                  <a:srgbClr val="1B2338"/>
                </a:solidFill>
                <a:latin typeface="Calibri" pitchFamily="34" charset="0"/>
                <a:ea typeface="Calibri" pitchFamily="34" charset="-122"/>
                <a:cs typeface="Calibri" pitchFamily="34" charset="-120"/>
              </a:rPr>
              <a:t>Superstore Sales Dataset</a:t>
            </a:r>
            <a:endParaRPr lang="en-US" sz="950" dirty="0"/>
          </a:p>
        </p:txBody>
      </p:sp>
      <p:sp>
        <p:nvSpPr>
          <p:cNvPr id="30" name="Shape 23"/>
          <p:cNvSpPr/>
          <p:nvPr/>
        </p:nvSpPr>
        <p:spPr>
          <a:xfrm>
            <a:off x="6227064" y="3140964"/>
            <a:ext cx="438912" cy="438912"/>
          </a:xfrm>
          <a:prstGeom prst="ellipse">
            <a:avLst/>
          </a:prstGeom>
          <a:solidFill>
            <a:srgbClr val="8B5FBF"/>
          </a:solidFill>
          <a:ln/>
        </p:spPr>
      </p:sp>
      <p:pic>
        <p:nvPicPr>
          <p:cNvPr id="31" name="Image 5" descr="preencoded.png"/>
          <p:cNvPicPr>
            <a:picLocks noChangeAspect="1"/>
          </p:cNvPicPr>
          <p:nvPr/>
        </p:nvPicPr>
        <p:blipFill>
          <a:blip r:embed="rId8"/>
          <a:stretch>
            <a:fillRect/>
          </a:stretch>
        </p:blipFill>
        <p:spPr>
          <a:xfrm>
            <a:off x="6341181" y="3255081"/>
            <a:ext cx="210678" cy="210678"/>
          </a:xfrm>
          <a:prstGeom prst="rect">
            <a:avLst/>
          </a:prstGeom>
        </p:spPr>
      </p:pic>
      <p:sp>
        <p:nvSpPr>
          <p:cNvPr id="32" name="Text 24"/>
          <p:cNvSpPr/>
          <p:nvPr/>
        </p:nvSpPr>
        <p:spPr>
          <a:xfrm>
            <a:off x="6812280" y="3067812"/>
            <a:ext cx="4507992" cy="585216"/>
          </a:xfrm>
          <a:prstGeom prst="rect">
            <a:avLst/>
          </a:prstGeom>
          <a:noFill/>
          <a:ln/>
        </p:spPr>
        <p:txBody>
          <a:bodyPr wrap="square" lIns="0" tIns="0" rIns="0" bIns="0" rtlCol="0" anchor="ctr"/>
          <a:lstStyle/>
          <a:p>
            <a:pPr marL="0" indent="0">
              <a:buNone/>
            </a:pPr>
            <a:r>
              <a:rPr lang="en-US" sz="950" b="1" kern="0" spc="100" dirty="0">
                <a:solidFill>
                  <a:srgbClr val="64748B"/>
                </a:solidFill>
                <a:latin typeface="Calibri" pitchFamily="34" charset="0"/>
                <a:ea typeface="Calibri" pitchFamily="34" charset="-122"/>
                <a:cs typeface="Calibri" pitchFamily="34" charset="-120"/>
              </a:rPr>
              <a:t>TIME PERIOD</a:t>
            </a:r>
            <a:endParaRPr lang="en-US" sz="950" dirty="0"/>
          </a:p>
          <a:p>
            <a:pPr marL="0" indent="0">
              <a:buNone/>
            </a:pPr>
            <a:r>
              <a:rPr lang="en-US" sz="1500" b="1" dirty="0">
                <a:solidFill>
                  <a:srgbClr val="1B2338"/>
                </a:solidFill>
                <a:latin typeface="Calibri" pitchFamily="34" charset="0"/>
                <a:ea typeface="Calibri" pitchFamily="34" charset="-122"/>
                <a:cs typeface="Calibri" pitchFamily="34" charset="-120"/>
              </a:rPr>
              <a:t>2014 – 2017</a:t>
            </a:r>
            <a:endParaRPr lang="en-US" sz="950" dirty="0"/>
          </a:p>
        </p:txBody>
      </p:sp>
      <p:sp>
        <p:nvSpPr>
          <p:cNvPr id="33" name="Shape 25"/>
          <p:cNvSpPr/>
          <p:nvPr/>
        </p:nvSpPr>
        <p:spPr>
          <a:xfrm>
            <a:off x="6227064" y="3918204"/>
            <a:ext cx="438912" cy="438912"/>
          </a:xfrm>
          <a:prstGeom prst="ellipse">
            <a:avLst/>
          </a:prstGeom>
          <a:solidFill>
            <a:srgbClr val="12A594"/>
          </a:solidFill>
          <a:ln/>
        </p:spPr>
      </p:sp>
      <p:pic>
        <p:nvPicPr>
          <p:cNvPr id="34" name="Image 6" descr="preencoded.png"/>
          <p:cNvPicPr>
            <a:picLocks noChangeAspect="1"/>
          </p:cNvPicPr>
          <p:nvPr/>
        </p:nvPicPr>
        <p:blipFill>
          <a:blip r:embed="rId6"/>
          <a:stretch>
            <a:fillRect/>
          </a:stretch>
        </p:blipFill>
        <p:spPr>
          <a:xfrm>
            <a:off x="6341181" y="4032321"/>
            <a:ext cx="210678" cy="210678"/>
          </a:xfrm>
          <a:prstGeom prst="rect">
            <a:avLst/>
          </a:prstGeom>
        </p:spPr>
      </p:pic>
      <p:sp>
        <p:nvSpPr>
          <p:cNvPr id="35" name="Text 26"/>
          <p:cNvSpPr/>
          <p:nvPr/>
        </p:nvSpPr>
        <p:spPr>
          <a:xfrm>
            <a:off x="6812280" y="3845052"/>
            <a:ext cx="4507992" cy="585216"/>
          </a:xfrm>
          <a:prstGeom prst="rect">
            <a:avLst/>
          </a:prstGeom>
          <a:noFill/>
          <a:ln/>
        </p:spPr>
        <p:txBody>
          <a:bodyPr wrap="square" lIns="0" tIns="0" rIns="0" bIns="0" rtlCol="0" anchor="ctr"/>
          <a:lstStyle/>
          <a:p>
            <a:pPr marL="0" indent="0">
              <a:buNone/>
            </a:pPr>
            <a:r>
              <a:rPr lang="en-US" sz="950" b="1" kern="0" spc="100" dirty="0">
                <a:solidFill>
                  <a:srgbClr val="64748B"/>
                </a:solidFill>
                <a:latin typeface="Calibri" pitchFamily="34" charset="0"/>
                <a:ea typeface="Calibri" pitchFamily="34" charset="-122"/>
                <a:cs typeface="Calibri" pitchFamily="34" charset="-120"/>
              </a:rPr>
              <a:t>SOURCE</a:t>
            </a:r>
            <a:endParaRPr lang="en-US" sz="950" dirty="0"/>
          </a:p>
          <a:p>
            <a:pPr marL="0" indent="0">
              <a:buNone/>
            </a:pPr>
            <a:r>
              <a:rPr lang="en-US" sz="1500" b="1" dirty="0">
                <a:solidFill>
                  <a:srgbClr val="1B2338"/>
                </a:solidFill>
                <a:latin typeface="Calibri" pitchFamily="34" charset="0"/>
                <a:ea typeface="Calibri" pitchFamily="34" charset="-122"/>
                <a:cs typeface="Calibri" pitchFamily="34" charset="-120"/>
              </a:rPr>
              <a:t>CSV File</a:t>
            </a:r>
            <a:endParaRPr lang="en-US" sz="950" dirty="0"/>
          </a:p>
        </p:txBody>
      </p:sp>
      <p:sp>
        <p:nvSpPr>
          <p:cNvPr id="36" name="Text 27"/>
          <p:cNvSpPr/>
          <p:nvPr/>
        </p:nvSpPr>
        <p:spPr>
          <a:xfrm>
            <a:off x="5852160" y="4937760"/>
            <a:ext cx="5788152" cy="274320"/>
          </a:xfrm>
          <a:prstGeom prst="rect">
            <a:avLst/>
          </a:prstGeom>
          <a:noFill/>
          <a:ln/>
        </p:spPr>
        <p:txBody>
          <a:bodyPr wrap="square" lIns="0" tIns="0" rIns="0" bIns="0" rtlCol="0" anchor="ctr"/>
          <a:lstStyle/>
          <a:p>
            <a:pPr marL="0" indent="0">
              <a:buNone/>
            </a:pPr>
            <a:r>
              <a:rPr lang="en-US" sz="1000" b="1" kern="0" spc="150" dirty="0">
                <a:solidFill>
                  <a:srgbClr val="64748B"/>
                </a:solidFill>
                <a:latin typeface="Calibri" pitchFamily="34" charset="0"/>
                <a:ea typeface="Calibri" pitchFamily="34" charset="-122"/>
                <a:cs typeface="Calibri" pitchFamily="34" charset="-120"/>
              </a:rPr>
              <a:t>DATA COVERAGE TIMELINE</a:t>
            </a:r>
            <a:endParaRPr lang="en-US" sz="1000" dirty="0"/>
          </a:p>
        </p:txBody>
      </p:sp>
      <p:sp>
        <p:nvSpPr>
          <p:cNvPr id="37" name="Shape 28"/>
          <p:cNvSpPr/>
          <p:nvPr/>
        </p:nvSpPr>
        <p:spPr>
          <a:xfrm>
            <a:off x="6172200" y="5504688"/>
            <a:ext cx="5148072" cy="0"/>
          </a:xfrm>
          <a:prstGeom prst="line">
            <a:avLst/>
          </a:prstGeom>
          <a:noFill/>
          <a:ln w="25400">
            <a:solidFill>
              <a:srgbClr val="E7ECF3"/>
            </a:solidFill>
            <a:prstDash val="solid"/>
          </a:ln>
        </p:spPr>
      </p:sp>
      <p:sp>
        <p:nvSpPr>
          <p:cNvPr id="38" name="Shape 29"/>
          <p:cNvSpPr/>
          <p:nvPr/>
        </p:nvSpPr>
        <p:spPr>
          <a:xfrm>
            <a:off x="6103620" y="5436108"/>
            <a:ext cx="137160" cy="137160"/>
          </a:xfrm>
          <a:prstGeom prst="ellipse">
            <a:avLst/>
          </a:prstGeom>
          <a:solidFill>
            <a:srgbClr val="12A594"/>
          </a:solidFill>
          <a:ln w="19050">
            <a:solidFill>
              <a:srgbClr val="FFFFFF"/>
            </a:solidFill>
            <a:prstDash val="solid"/>
          </a:ln>
        </p:spPr>
      </p:sp>
      <p:sp>
        <p:nvSpPr>
          <p:cNvPr id="39" name="Text 30"/>
          <p:cNvSpPr/>
          <p:nvPr/>
        </p:nvSpPr>
        <p:spPr>
          <a:xfrm>
            <a:off x="5806440" y="5641848"/>
            <a:ext cx="731520" cy="274320"/>
          </a:xfrm>
          <a:prstGeom prst="rect">
            <a:avLst/>
          </a:prstGeom>
          <a:noFill/>
          <a:ln/>
        </p:spPr>
        <p:txBody>
          <a:bodyPr wrap="square" lIns="0" tIns="0" rIns="0" bIns="0" rtlCol="0" anchor="ctr"/>
          <a:lstStyle/>
          <a:p>
            <a:pPr marL="0" indent="0" algn="ctr">
              <a:buNone/>
            </a:pPr>
            <a:r>
              <a:rPr lang="en-US" sz="1050" b="1" dirty="0">
                <a:solidFill>
                  <a:srgbClr val="1B2338"/>
                </a:solidFill>
                <a:latin typeface="Calibri" pitchFamily="34" charset="0"/>
                <a:ea typeface="Calibri" pitchFamily="34" charset="-122"/>
                <a:cs typeface="Calibri" pitchFamily="34" charset="-120"/>
              </a:rPr>
              <a:t>2014</a:t>
            </a:r>
            <a:endParaRPr lang="en-US" sz="1050" dirty="0"/>
          </a:p>
        </p:txBody>
      </p:sp>
      <p:sp>
        <p:nvSpPr>
          <p:cNvPr id="40" name="Shape 31"/>
          <p:cNvSpPr/>
          <p:nvPr/>
        </p:nvSpPr>
        <p:spPr>
          <a:xfrm>
            <a:off x="7819644" y="5436108"/>
            <a:ext cx="137160" cy="137160"/>
          </a:xfrm>
          <a:prstGeom prst="ellipse">
            <a:avLst/>
          </a:prstGeom>
          <a:solidFill>
            <a:srgbClr val="12A594"/>
          </a:solidFill>
          <a:ln w="19050">
            <a:solidFill>
              <a:srgbClr val="FFFFFF"/>
            </a:solidFill>
            <a:prstDash val="solid"/>
          </a:ln>
        </p:spPr>
      </p:sp>
      <p:sp>
        <p:nvSpPr>
          <p:cNvPr id="41" name="Text 32"/>
          <p:cNvSpPr/>
          <p:nvPr/>
        </p:nvSpPr>
        <p:spPr>
          <a:xfrm>
            <a:off x="7522464" y="5641848"/>
            <a:ext cx="731520" cy="274320"/>
          </a:xfrm>
          <a:prstGeom prst="rect">
            <a:avLst/>
          </a:prstGeom>
          <a:noFill/>
          <a:ln/>
        </p:spPr>
        <p:txBody>
          <a:bodyPr wrap="square" lIns="0" tIns="0" rIns="0" bIns="0" rtlCol="0" anchor="ctr"/>
          <a:lstStyle/>
          <a:p>
            <a:pPr marL="0" indent="0" algn="ctr">
              <a:buNone/>
            </a:pPr>
            <a:r>
              <a:rPr lang="en-US" sz="1050" b="1" dirty="0">
                <a:solidFill>
                  <a:srgbClr val="1B2338"/>
                </a:solidFill>
                <a:latin typeface="Calibri" pitchFamily="34" charset="0"/>
                <a:ea typeface="Calibri" pitchFamily="34" charset="-122"/>
                <a:cs typeface="Calibri" pitchFamily="34" charset="-120"/>
              </a:rPr>
              <a:t>2015</a:t>
            </a:r>
            <a:endParaRPr lang="en-US" sz="1050" dirty="0"/>
          </a:p>
        </p:txBody>
      </p:sp>
      <p:sp>
        <p:nvSpPr>
          <p:cNvPr id="42" name="Shape 33"/>
          <p:cNvSpPr/>
          <p:nvPr/>
        </p:nvSpPr>
        <p:spPr>
          <a:xfrm>
            <a:off x="9535668" y="5436108"/>
            <a:ext cx="137160" cy="137160"/>
          </a:xfrm>
          <a:prstGeom prst="ellipse">
            <a:avLst/>
          </a:prstGeom>
          <a:solidFill>
            <a:srgbClr val="12A594"/>
          </a:solidFill>
          <a:ln w="19050">
            <a:solidFill>
              <a:srgbClr val="FFFFFF"/>
            </a:solidFill>
            <a:prstDash val="solid"/>
          </a:ln>
        </p:spPr>
      </p:sp>
      <p:sp>
        <p:nvSpPr>
          <p:cNvPr id="43" name="Text 34"/>
          <p:cNvSpPr/>
          <p:nvPr/>
        </p:nvSpPr>
        <p:spPr>
          <a:xfrm>
            <a:off x="9238488" y="5641848"/>
            <a:ext cx="731520" cy="274320"/>
          </a:xfrm>
          <a:prstGeom prst="rect">
            <a:avLst/>
          </a:prstGeom>
          <a:noFill/>
          <a:ln/>
        </p:spPr>
        <p:txBody>
          <a:bodyPr wrap="square" lIns="0" tIns="0" rIns="0" bIns="0" rtlCol="0" anchor="ctr"/>
          <a:lstStyle/>
          <a:p>
            <a:pPr marL="0" indent="0" algn="ctr">
              <a:buNone/>
            </a:pPr>
            <a:r>
              <a:rPr lang="en-US" sz="1050" b="1" dirty="0">
                <a:solidFill>
                  <a:srgbClr val="1B2338"/>
                </a:solidFill>
                <a:latin typeface="Calibri" pitchFamily="34" charset="0"/>
                <a:ea typeface="Calibri" pitchFamily="34" charset="-122"/>
                <a:cs typeface="Calibri" pitchFamily="34" charset="-120"/>
              </a:rPr>
              <a:t>2016</a:t>
            </a:r>
            <a:endParaRPr lang="en-US" sz="1050" dirty="0"/>
          </a:p>
        </p:txBody>
      </p:sp>
      <p:sp>
        <p:nvSpPr>
          <p:cNvPr id="44" name="Shape 35"/>
          <p:cNvSpPr/>
          <p:nvPr/>
        </p:nvSpPr>
        <p:spPr>
          <a:xfrm>
            <a:off x="11251692" y="5436108"/>
            <a:ext cx="137160" cy="137160"/>
          </a:xfrm>
          <a:prstGeom prst="ellipse">
            <a:avLst/>
          </a:prstGeom>
          <a:solidFill>
            <a:srgbClr val="8B5FBF"/>
          </a:solidFill>
          <a:ln w="19050">
            <a:solidFill>
              <a:srgbClr val="FFFFFF"/>
            </a:solidFill>
            <a:prstDash val="solid"/>
          </a:ln>
        </p:spPr>
      </p:sp>
      <p:sp>
        <p:nvSpPr>
          <p:cNvPr id="45" name="Text 36"/>
          <p:cNvSpPr/>
          <p:nvPr/>
        </p:nvSpPr>
        <p:spPr>
          <a:xfrm>
            <a:off x="10954512" y="5641848"/>
            <a:ext cx="731520" cy="274320"/>
          </a:xfrm>
          <a:prstGeom prst="rect">
            <a:avLst/>
          </a:prstGeom>
          <a:noFill/>
          <a:ln/>
        </p:spPr>
        <p:txBody>
          <a:bodyPr wrap="square" lIns="0" tIns="0" rIns="0" bIns="0" rtlCol="0" anchor="ctr"/>
          <a:lstStyle/>
          <a:p>
            <a:pPr marL="0" indent="0" algn="ctr">
              <a:buNone/>
            </a:pPr>
            <a:r>
              <a:rPr lang="en-US" sz="1050" b="1" dirty="0">
                <a:solidFill>
                  <a:srgbClr val="1B2338"/>
                </a:solidFill>
                <a:latin typeface="Calibri" pitchFamily="34" charset="0"/>
                <a:ea typeface="Calibri" pitchFamily="34" charset="-122"/>
                <a:cs typeface="Calibri" pitchFamily="34" charset="-120"/>
              </a:rPr>
              <a:t>2017</a:t>
            </a:r>
            <a:endParaRPr lang="en-US" sz="1050" dirty="0"/>
          </a:p>
        </p:txBody>
      </p:sp>
      <p:sp>
        <p:nvSpPr>
          <p:cNvPr id="46" name="Text 37"/>
          <p:cNvSpPr/>
          <p:nvPr/>
        </p:nvSpPr>
        <p:spPr>
          <a:xfrm>
            <a:off x="548640" y="6492240"/>
            <a:ext cx="5486400" cy="23774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Superstore Sales Performance Dashboard</a:t>
            </a:r>
            <a:endParaRPr lang="en-US" sz="900" dirty="0"/>
          </a:p>
        </p:txBody>
      </p:sp>
      <p:sp>
        <p:nvSpPr>
          <p:cNvPr id="47" name="Text 38"/>
          <p:cNvSpPr/>
          <p:nvPr/>
        </p:nvSpPr>
        <p:spPr>
          <a:xfrm>
            <a:off x="10451592" y="6492240"/>
            <a:ext cx="118872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03 / 09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20624"/>
            <a:ext cx="9144000" cy="274320"/>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03   ·   DASHBOARD OVERVIEW</a:t>
            </a:r>
            <a:endParaRPr lang="en-US" sz="1200" dirty="0"/>
          </a:p>
        </p:txBody>
      </p:sp>
      <p:sp>
        <p:nvSpPr>
          <p:cNvPr id="3" name="Text 1"/>
          <p:cNvSpPr/>
          <p:nvPr/>
        </p:nvSpPr>
        <p:spPr>
          <a:xfrm>
            <a:off x="548640" y="676656"/>
            <a:ext cx="9601200" cy="566928"/>
          </a:xfrm>
          <a:prstGeom prst="rect">
            <a:avLst/>
          </a:prstGeom>
          <a:noFill/>
          <a:ln/>
        </p:spPr>
        <p:txBody>
          <a:bodyPr wrap="square" lIns="0" tIns="0" rIns="0" bIns="0" rtlCol="0" anchor="ctr"/>
          <a:lstStyle/>
          <a:p>
            <a:pPr marL="0" indent="0">
              <a:buNone/>
            </a:pPr>
            <a:r>
              <a:rPr lang="en-US" sz="3000" b="1" dirty="0">
                <a:solidFill>
                  <a:srgbClr val="1B2A56"/>
                </a:solidFill>
                <a:latin typeface="Cambria" pitchFamily="34" charset="0"/>
                <a:ea typeface="Cambria" pitchFamily="34" charset="-122"/>
                <a:cs typeface="Cambria" pitchFamily="34" charset="-120"/>
              </a:rPr>
              <a:t>Dashboard Overview</a:t>
            </a:r>
            <a:endParaRPr lang="en-US" sz="3000" dirty="0"/>
          </a:p>
        </p:txBody>
      </p:sp>
      <p:sp>
        <p:nvSpPr>
          <p:cNvPr id="4" name="Shape 2"/>
          <p:cNvSpPr/>
          <p:nvPr/>
        </p:nvSpPr>
        <p:spPr>
          <a:xfrm>
            <a:off x="548640" y="1737360"/>
            <a:ext cx="7074084" cy="4206240"/>
          </a:xfrm>
          <a:prstGeom prst="roundRect">
            <a:avLst>
              <a:gd name="adj" fmla="val 1087"/>
            </a:avLst>
          </a:prstGeom>
          <a:solidFill>
            <a:srgbClr val="FFFFFF"/>
          </a:solidFill>
          <a:ln/>
          <a:effectLst>
            <a:outerShdw blurRad="152400" dist="50800" dir="5400000" algn="bl" rotWithShape="0">
              <a:srgbClr val="1B2A56">
                <a:alpha val="14000"/>
              </a:srgbClr>
            </a:outerShdw>
          </a:effectLst>
        </p:spPr>
      </p:sp>
      <p:sp>
        <p:nvSpPr>
          <p:cNvPr id="6" name="Text 3"/>
          <p:cNvSpPr/>
          <p:nvPr/>
        </p:nvSpPr>
        <p:spPr>
          <a:xfrm>
            <a:off x="7915332" y="1737360"/>
            <a:ext cx="3727723" cy="365760"/>
          </a:xfrm>
          <a:prstGeom prst="rect">
            <a:avLst/>
          </a:prstGeom>
          <a:noFill/>
          <a:ln/>
        </p:spPr>
        <p:txBody>
          <a:bodyPr wrap="square" lIns="0" tIns="0" rIns="0" bIns="0" rtlCol="0" anchor="ctr"/>
          <a:lstStyle/>
          <a:p>
            <a:pPr marL="0" indent="0">
              <a:buNone/>
            </a:pPr>
            <a:r>
              <a:rPr lang="en-US" sz="1550" b="1" dirty="0">
                <a:solidFill>
                  <a:srgbClr val="1B2A56"/>
                </a:solidFill>
                <a:latin typeface="Cambria" pitchFamily="34" charset="0"/>
                <a:ea typeface="Cambria" pitchFamily="34" charset="-122"/>
                <a:cs typeface="Cambria" pitchFamily="34" charset="-120"/>
              </a:rPr>
              <a:t>Dashboard Components</a:t>
            </a:r>
            <a:endParaRPr lang="en-US" sz="1550" dirty="0"/>
          </a:p>
        </p:txBody>
      </p:sp>
      <p:sp>
        <p:nvSpPr>
          <p:cNvPr id="7" name="Shape 4"/>
          <p:cNvSpPr/>
          <p:nvPr/>
        </p:nvSpPr>
        <p:spPr>
          <a:xfrm>
            <a:off x="7924476" y="2376297"/>
            <a:ext cx="310896" cy="310896"/>
          </a:xfrm>
          <a:prstGeom prst="ellipse">
            <a:avLst/>
          </a:prstGeom>
          <a:solidFill>
            <a:srgbClr val="1B2A56"/>
          </a:solidFill>
          <a:ln/>
        </p:spPr>
      </p:sp>
      <p:pic>
        <p:nvPicPr>
          <p:cNvPr id="8" name="Image 1" descr="preencoded.png"/>
          <p:cNvPicPr>
            <a:picLocks noChangeAspect="1"/>
          </p:cNvPicPr>
          <p:nvPr/>
        </p:nvPicPr>
        <p:blipFill>
          <a:blip r:embed="rId3"/>
          <a:stretch>
            <a:fillRect/>
          </a:stretch>
        </p:blipFill>
        <p:spPr>
          <a:xfrm>
            <a:off x="7999091" y="2450912"/>
            <a:ext cx="161666" cy="161666"/>
          </a:xfrm>
          <a:prstGeom prst="rect">
            <a:avLst/>
          </a:prstGeom>
        </p:spPr>
      </p:pic>
      <p:sp>
        <p:nvSpPr>
          <p:cNvPr id="9" name="Text 5"/>
          <p:cNvSpPr/>
          <p:nvPr/>
        </p:nvSpPr>
        <p:spPr>
          <a:xfrm>
            <a:off x="8372532" y="2304288"/>
            <a:ext cx="3270523" cy="454914"/>
          </a:xfrm>
          <a:prstGeom prst="rect">
            <a:avLst/>
          </a:prstGeom>
          <a:noFill/>
          <a:ln/>
        </p:spPr>
        <p:txBody>
          <a:bodyPr wrap="square" lIns="0" tIns="0" rIns="0" bIns="0" rtlCol="0" anchor="ctr"/>
          <a:lstStyle/>
          <a:p>
            <a:pPr marL="0" indent="0">
              <a:buNone/>
            </a:pPr>
            <a:r>
              <a:rPr lang="en-US" sz="1150" dirty="0">
                <a:solidFill>
                  <a:srgbClr val="1B2338"/>
                </a:solidFill>
                <a:latin typeface="Calibri" pitchFamily="34" charset="0"/>
                <a:ea typeface="Calibri" pitchFamily="34" charset="-122"/>
                <a:cs typeface="Calibri" pitchFamily="34" charset="-120"/>
              </a:rPr>
              <a:t>KPI Cards</a:t>
            </a:r>
            <a:endParaRPr lang="en-US" sz="1150" dirty="0"/>
          </a:p>
        </p:txBody>
      </p:sp>
      <p:sp>
        <p:nvSpPr>
          <p:cNvPr id="10" name="Shape 6"/>
          <p:cNvSpPr/>
          <p:nvPr/>
        </p:nvSpPr>
        <p:spPr>
          <a:xfrm>
            <a:off x="7924476" y="2831211"/>
            <a:ext cx="310896" cy="310896"/>
          </a:xfrm>
          <a:prstGeom prst="ellipse">
            <a:avLst/>
          </a:prstGeom>
          <a:solidFill>
            <a:srgbClr val="12A594"/>
          </a:solidFill>
          <a:ln/>
        </p:spPr>
      </p:sp>
      <p:pic>
        <p:nvPicPr>
          <p:cNvPr id="11" name="Image 2" descr="preencoded.png"/>
          <p:cNvPicPr>
            <a:picLocks noChangeAspect="1"/>
          </p:cNvPicPr>
          <p:nvPr/>
        </p:nvPicPr>
        <p:blipFill>
          <a:blip r:embed="rId4"/>
          <a:stretch>
            <a:fillRect/>
          </a:stretch>
        </p:blipFill>
        <p:spPr>
          <a:xfrm>
            <a:off x="7999091" y="2905826"/>
            <a:ext cx="161666" cy="161666"/>
          </a:xfrm>
          <a:prstGeom prst="rect">
            <a:avLst/>
          </a:prstGeom>
        </p:spPr>
      </p:pic>
      <p:sp>
        <p:nvSpPr>
          <p:cNvPr id="12" name="Text 7"/>
          <p:cNvSpPr/>
          <p:nvPr/>
        </p:nvSpPr>
        <p:spPr>
          <a:xfrm>
            <a:off x="8372532" y="2759202"/>
            <a:ext cx="3270523" cy="454914"/>
          </a:xfrm>
          <a:prstGeom prst="rect">
            <a:avLst/>
          </a:prstGeom>
          <a:noFill/>
          <a:ln/>
        </p:spPr>
        <p:txBody>
          <a:bodyPr wrap="square" lIns="0" tIns="0" rIns="0" bIns="0" rtlCol="0" anchor="ctr"/>
          <a:lstStyle/>
          <a:p>
            <a:pPr marL="0" indent="0">
              <a:buNone/>
            </a:pPr>
            <a:r>
              <a:rPr lang="en-US" sz="1150" dirty="0">
                <a:solidFill>
                  <a:srgbClr val="1B2338"/>
                </a:solidFill>
                <a:latin typeface="Calibri" pitchFamily="34" charset="0"/>
                <a:ea typeface="Calibri" pitchFamily="34" charset="-122"/>
                <a:cs typeface="Calibri" pitchFamily="34" charset="-120"/>
              </a:rPr>
              <a:t>Sales Distribution by Category</a:t>
            </a:r>
            <a:endParaRPr lang="en-US" sz="1150" dirty="0"/>
          </a:p>
        </p:txBody>
      </p:sp>
      <p:sp>
        <p:nvSpPr>
          <p:cNvPr id="13" name="Shape 8"/>
          <p:cNvSpPr/>
          <p:nvPr/>
        </p:nvSpPr>
        <p:spPr>
          <a:xfrm>
            <a:off x="7924476" y="3286125"/>
            <a:ext cx="310896" cy="310896"/>
          </a:xfrm>
          <a:prstGeom prst="ellipse">
            <a:avLst/>
          </a:prstGeom>
          <a:solidFill>
            <a:srgbClr val="8B5FBF"/>
          </a:solidFill>
          <a:ln/>
        </p:spPr>
      </p:sp>
      <p:pic>
        <p:nvPicPr>
          <p:cNvPr id="14" name="Image 3" descr="preencoded.png"/>
          <p:cNvPicPr>
            <a:picLocks noChangeAspect="1"/>
          </p:cNvPicPr>
          <p:nvPr/>
        </p:nvPicPr>
        <p:blipFill>
          <a:blip r:embed="rId5"/>
          <a:stretch>
            <a:fillRect/>
          </a:stretch>
        </p:blipFill>
        <p:spPr>
          <a:xfrm>
            <a:off x="7999091" y="3360740"/>
            <a:ext cx="161666" cy="161666"/>
          </a:xfrm>
          <a:prstGeom prst="rect">
            <a:avLst/>
          </a:prstGeom>
        </p:spPr>
      </p:pic>
      <p:sp>
        <p:nvSpPr>
          <p:cNvPr id="15" name="Text 9"/>
          <p:cNvSpPr/>
          <p:nvPr/>
        </p:nvSpPr>
        <p:spPr>
          <a:xfrm>
            <a:off x="8372532" y="3214116"/>
            <a:ext cx="3270523" cy="454914"/>
          </a:xfrm>
          <a:prstGeom prst="rect">
            <a:avLst/>
          </a:prstGeom>
          <a:noFill/>
          <a:ln/>
        </p:spPr>
        <p:txBody>
          <a:bodyPr wrap="square" lIns="0" tIns="0" rIns="0" bIns="0" rtlCol="0" anchor="ctr"/>
          <a:lstStyle/>
          <a:p>
            <a:pPr marL="0" indent="0">
              <a:buNone/>
            </a:pPr>
            <a:r>
              <a:rPr lang="en-US" sz="1150" dirty="0">
                <a:solidFill>
                  <a:srgbClr val="1B2338"/>
                </a:solidFill>
                <a:latin typeface="Calibri" pitchFamily="34" charset="0"/>
                <a:ea typeface="Calibri" pitchFamily="34" charset="-122"/>
                <a:cs typeface="Calibri" pitchFamily="34" charset="-120"/>
              </a:rPr>
              <a:t>Sales Trend Over Time</a:t>
            </a:r>
            <a:endParaRPr lang="en-US" sz="1150" dirty="0"/>
          </a:p>
        </p:txBody>
      </p:sp>
      <p:sp>
        <p:nvSpPr>
          <p:cNvPr id="16" name="Shape 10"/>
          <p:cNvSpPr/>
          <p:nvPr/>
        </p:nvSpPr>
        <p:spPr>
          <a:xfrm>
            <a:off x="7924476" y="3741039"/>
            <a:ext cx="310896" cy="310896"/>
          </a:xfrm>
          <a:prstGeom prst="ellipse">
            <a:avLst/>
          </a:prstGeom>
          <a:solidFill>
            <a:srgbClr val="1B2A56"/>
          </a:solidFill>
          <a:ln/>
        </p:spPr>
      </p:sp>
      <p:pic>
        <p:nvPicPr>
          <p:cNvPr id="17" name="Image 4" descr="preencoded.png"/>
          <p:cNvPicPr>
            <a:picLocks noChangeAspect="1"/>
          </p:cNvPicPr>
          <p:nvPr/>
        </p:nvPicPr>
        <p:blipFill>
          <a:blip r:embed="rId6"/>
          <a:stretch>
            <a:fillRect/>
          </a:stretch>
        </p:blipFill>
        <p:spPr>
          <a:xfrm>
            <a:off x="7999091" y="3815654"/>
            <a:ext cx="161666" cy="161666"/>
          </a:xfrm>
          <a:prstGeom prst="rect">
            <a:avLst/>
          </a:prstGeom>
        </p:spPr>
      </p:pic>
      <p:sp>
        <p:nvSpPr>
          <p:cNvPr id="18" name="Text 11"/>
          <p:cNvSpPr/>
          <p:nvPr/>
        </p:nvSpPr>
        <p:spPr>
          <a:xfrm>
            <a:off x="8372532" y="3669030"/>
            <a:ext cx="3270523" cy="454914"/>
          </a:xfrm>
          <a:prstGeom prst="rect">
            <a:avLst/>
          </a:prstGeom>
          <a:noFill/>
          <a:ln/>
        </p:spPr>
        <p:txBody>
          <a:bodyPr wrap="square" lIns="0" tIns="0" rIns="0" bIns="0" rtlCol="0" anchor="ctr"/>
          <a:lstStyle/>
          <a:p>
            <a:pPr marL="0" indent="0">
              <a:buNone/>
            </a:pPr>
            <a:r>
              <a:rPr lang="en-US" sz="1150" dirty="0">
                <a:solidFill>
                  <a:srgbClr val="1B2338"/>
                </a:solidFill>
                <a:latin typeface="Calibri" pitchFamily="34" charset="0"/>
                <a:ea typeface="Calibri" pitchFamily="34" charset="-122"/>
                <a:cs typeface="Calibri" pitchFamily="34" charset="-120"/>
              </a:rPr>
              <a:t>Sales by State Map</a:t>
            </a:r>
            <a:endParaRPr lang="en-US" sz="1150" dirty="0"/>
          </a:p>
        </p:txBody>
      </p:sp>
      <p:sp>
        <p:nvSpPr>
          <p:cNvPr id="19" name="Shape 12"/>
          <p:cNvSpPr/>
          <p:nvPr/>
        </p:nvSpPr>
        <p:spPr>
          <a:xfrm>
            <a:off x="7924476" y="4195953"/>
            <a:ext cx="310896" cy="310896"/>
          </a:xfrm>
          <a:prstGeom prst="ellipse">
            <a:avLst/>
          </a:prstGeom>
          <a:solidFill>
            <a:srgbClr val="12A594"/>
          </a:solidFill>
          <a:ln/>
        </p:spPr>
      </p:sp>
      <p:pic>
        <p:nvPicPr>
          <p:cNvPr id="20" name="Image 5" descr="preencoded.png"/>
          <p:cNvPicPr>
            <a:picLocks noChangeAspect="1"/>
          </p:cNvPicPr>
          <p:nvPr/>
        </p:nvPicPr>
        <p:blipFill>
          <a:blip r:embed="rId7"/>
          <a:stretch>
            <a:fillRect/>
          </a:stretch>
        </p:blipFill>
        <p:spPr>
          <a:xfrm>
            <a:off x="7999091" y="4270568"/>
            <a:ext cx="161666" cy="161666"/>
          </a:xfrm>
          <a:prstGeom prst="rect">
            <a:avLst/>
          </a:prstGeom>
        </p:spPr>
      </p:pic>
      <p:sp>
        <p:nvSpPr>
          <p:cNvPr id="21" name="Text 13"/>
          <p:cNvSpPr/>
          <p:nvPr/>
        </p:nvSpPr>
        <p:spPr>
          <a:xfrm>
            <a:off x="8372532" y="4123944"/>
            <a:ext cx="3270523" cy="454914"/>
          </a:xfrm>
          <a:prstGeom prst="rect">
            <a:avLst/>
          </a:prstGeom>
          <a:noFill/>
          <a:ln/>
        </p:spPr>
        <p:txBody>
          <a:bodyPr wrap="square" lIns="0" tIns="0" rIns="0" bIns="0" rtlCol="0" anchor="ctr"/>
          <a:lstStyle/>
          <a:p>
            <a:pPr marL="0" indent="0">
              <a:buNone/>
            </a:pPr>
            <a:r>
              <a:rPr lang="en-US" sz="1150" dirty="0">
                <a:solidFill>
                  <a:srgbClr val="1B2338"/>
                </a:solidFill>
                <a:latin typeface="Calibri" pitchFamily="34" charset="0"/>
                <a:ea typeface="Calibri" pitchFamily="34" charset="-122"/>
                <a:cs typeface="Calibri" pitchFamily="34" charset="-120"/>
              </a:rPr>
              <a:t>Profit by Sub-Category</a:t>
            </a:r>
            <a:endParaRPr lang="en-US" sz="1150" dirty="0"/>
          </a:p>
        </p:txBody>
      </p:sp>
      <p:sp>
        <p:nvSpPr>
          <p:cNvPr id="22" name="Shape 14"/>
          <p:cNvSpPr/>
          <p:nvPr/>
        </p:nvSpPr>
        <p:spPr>
          <a:xfrm>
            <a:off x="7924476" y="4650867"/>
            <a:ext cx="310896" cy="310896"/>
          </a:xfrm>
          <a:prstGeom prst="ellipse">
            <a:avLst/>
          </a:prstGeom>
          <a:solidFill>
            <a:srgbClr val="8B5FBF"/>
          </a:solidFill>
          <a:ln/>
        </p:spPr>
      </p:sp>
      <p:pic>
        <p:nvPicPr>
          <p:cNvPr id="23" name="Image 6" descr="preencoded.png"/>
          <p:cNvPicPr>
            <a:picLocks noChangeAspect="1"/>
          </p:cNvPicPr>
          <p:nvPr/>
        </p:nvPicPr>
        <p:blipFill>
          <a:blip r:embed="rId8"/>
          <a:stretch>
            <a:fillRect/>
          </a:stretch>
        </p:blipFill>
        <p:spPr>
          <a:xfrm>
            <a:off x="7999091" y="4725482"/>
            <a:ext cx="161666" cy="161666"/>
          </a:xfrm>
          <a:prstGeom prst="rect">
            <a:avLst/>
          </a:prstGeom>
        </p:spPr>
      </p:pic>
      <p:sp>
        <p:nvSpPr>
          <p:cNvPr id="24" name="Text 15"/>
          <p:cNvSpPr/>
          <p:nvPr/>
        </p:nvSpPr>
        <p:spPr>
          <a:xfrm>
            <a:off x="8372532" y="4578858"/>
            <a:ext cx="3270523" cy="454914"/>
          </a:xfrm>
          <a:prstGeom prst="rect">
            <a:avLst/>
          </a:prstGeom>
          <a:noFill/>
          <a:ln/>
        </p:spPr>
        <p:txBody>
          <a:bodyPr wrap="square" lIns="0" tIns="0" rIns="0" bIns="0" rtlCol="0" anchor="ctr"/>
          <a:lstStyle/>
          <a:p>
            <a:pPr marL="0" indent="0">
              <a:buNone/>
            </a:pPr>
            <a:r>
              <a:rPr lang="en-US" sz="1150" dirty="0">
                <a:solidFill>
                  <a:srgbClr val="1B2338"/>
                </a:solidFill>
                <a:latin typeface="Calibri" pitchFamily="34" charset="0"/>
                <a:ea typeface="Calibri" pitchFamily="34" charset="-122"/>
                <a:cs typeface="Calibri" pitchFamily="34" charset="-120"/>
              </a:rPr>
              <a:t>Year Filter</a:t>
            </a:r>
            <a:endParaRPr lang="en-US" sz="1150" dirty="0"/>
          </a:p>
        </p:txBody>
      </p:sp>
      <p:sp>
        <p:nvSpPr>
          <p:cNvPr id="25" name="Shape 16"/>
          <p:cNvSpPr/>
          <p:nvPr/>
        </p:nvSpPr>
        <p:spPr>
          <a:xfrm>
            <a:off x="7924476" y="5105781"/>
            <a:ext cx="310896" cy="310896"/>
          </a:xfrm>
          <a:prstGeom prst="ellipse">
            <a:avLst/>
          </a:prstGeom>
          <a:solidFill>
            <a:srgbClr val="1B2A56"/>
          </a:solidFill>
          <a:ln/>
        </p:spPr>
      </p:sp>
      <p:pic>
        <p:nvPicPr>
          <p:cNvPr id="26" name="Image 7" descr="preencoded.png"/>
          <p:cNvPicPr>
            <a:picLocks noChangeAspect="1"/>
          </p:cNvPicPr>
          <p:nvPr/>
        </p:nvPicPr>
        <p:blipFill>
          <a:blip r:embed="rId9"/>
          <a:stretch>
            <a:fillRect/>
          </a:stretch>
        </p:blipFill>
        <p:spPr>
          <a:xfrm>
            <a:off x="7999091" y="5180396"/>
            <a:ext cx="161666" cy="161666"/>
          </a:xfrm>
          <a:prstGeom prst="rect">
            <a:avLst/>
          </a:prstGeom>
        </p:spPr>
      </p:pic>
      <p:sp>
        <p:nvSpPr>
          <p:cNvPr id="27" name="Text 17"/>
          <p:cNvSpPr/>
          <p:nvPr/>
        </p:nvSpPr>
        <p:spPr>
          <a:xfrm>
            <a:off x="8372532" y="5033772"/>
            <a:ext cx="3270523" cy="454914"/>
          </a:xfrm>
          <a:prstGeom prst="rect">
            <a:avLst/>
          </a:prstGeom>
          <a:noFill/>
          <a:ln/>
        </p:spPr>
        <p:txBody>
          <a:bodyPr wrap="square" lIns="0" tIns="0" rIns="0" bIns="0" rtlCol="0" anchor="ctr"/>
          <a:lstStyle/>
          <a:p>
            <a:pPr marL="0" indent="0">
              <a:buNone/>
            </a:pPr>
            <a:r>
              <a:rPr lang="en-US" sz="1150" dirty="0">
                <a:solidFill>
                  <a:srgbClr val="1B2338"/>
                </a:solidFill>
                <a:latin typeface="Calibri" pitchFamily="34" charset="0"/>
                <a:ea typeface="Calibri" pitchFamily="34" charset="-122"/>
                <a:cs typeface="Calibri" pitchFamily="34" charset="-120"/>
              </a:rPr>
              <a:t>Region Slicer</a:t>
            </a:r>
            <a:endParaRPr lang="en-US" sz="1150" dirty="0"/>
          </a:p>
        </p:txBody>
      </p:sp>
      <p:sp>
        <p:nvSpPr>
          <p:cNvPr id="28" name="Shape 18"/>
          <p:cNvSpPr/>
          <p:nvPr/>
        </p:nvSpPr>
        <p:spPr>
          <a:xfrm>
            <a:off x="7924476" y="5560695"/>
            <a:ext cx="310896" cy="310896"/>
          </a:xfrm>
          <a:prstGeom prst="ellipse">
            <a:avLst/>
          </a:prstGeom>
          <a:solidFill>
            <a:srgbClr val="12A594"/>
          </a:solidFill>
          <a:ln/>
        </p:spPr>
      </p:sp>
      <p:pic>
        <p:nvPicPr>
          <p:cNvPr id="29" name="Image 8" descr="preencoded.png"/>
          <p:cNvPicPr>
            <a:picLocks noChangeAspect="1"/>
          </p:cNvPicPr>
          <p:nvPr/>
        </p:nvPicPr>
        <p:blipFill>
          <a:blip r:embed="rId10"/>
          <a:stretch>
            <a:fillRect/>
          </a:stretch>
        </p:blipFill>
        <p:spPr>
          <a:xfrm>
            <a:off x="7999091" y="5635310"/>
            <a:ext cx="161666" cy="161666"/>
          </a:xfrm>
          <a:prstGeom prst="rect">
            <a:avLst/>
          </a:prstGeom>
        </p:spPr>
      </p:pic>
      <p:sp>
        <p:nvSpPr>
          <p:cNvPr id="30" name="Text 19"/>
          <p:cNvSpPr/>
          <p:nvPr/>
        </p:nvSpPr>
        <p:spPr>
          <a:xfrm>
            <a:off x="8372532" y="5488686"/>
            <a:ext cx="3270523" cy="454914"/>
          </a:xfrm>
          <a:prstGeom prst="rect">
            <a:avLst/>
          </a:prstGeom>
          <a:noFill/>
          <a:ln/>
        </p:spPr>
        <p:txBody>
          <a:bodyPr wrap="square" lIns="0" tIns="0" rIns="0" bIns="0" rtlCol="0" anchor="ctr"/>
          <a:lstStyle/>
          <a:p>
            <a:pPr marL="0" indent="0">
              <a:buNone/>
            </a:pPr>
            <a:r>
              <a:rPr lang="en-US" sz="1150" dirty="0">
                <a:solidFill>
                  <a:srgbClr val="1B2338"/>
                </a:solidFill>
                <a:latin typeface="Calibri" pitchFamily="34" charset="0"/>
                <a:ea typeface="Calibri" pitchFamily="34" charset="-122"/>
                <a:cs typeface="Calibri" pitchFamily="34" charset="-120"/>
              </a:rPr>
              <a:t>Business Insights Panel</a:t>
            </a:r>
            <a:endParaRPr lang="en-US" sz="1150" dirty="0"/>
          </a:p>
        </p:txBody>
      </p:sp>
      <p:sp>
        <p:nvSpPr>
          <p:cNvPr id="31" name="Text 20"/>
          <p:cNvSpPr/>
          <p:nvPr/>
        </p:nvSpPr>
        <p:spPr>
          <a:xfrm>
            <a:off x="548640" y="6492240"/>
            <a:ext cx="5486400" cy="23774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Superstore Sales Performance Dashboard</a:t>
            </a:r>
            <a:endParaRPr lang="en-US" sz="900" dirty="0"/>
          </a:p>
        </p:txBody>
      </p:sp>
      <p:sp>
        <p:nvSpPr>
          <p:cNvPr id="32" name="Text 21"/>
          <p:cNvSpPr/>
          <p:nvPr/>
        </p:nvSpPr>
        <p:spPr>
          <a:xfrm>
            <a:off x="10451592" y="6492240"/>
            <a:ext cx="118872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04 / 09</a:t>
            </a:r>
            <a:endParaRPr lang="en-US" sz="900" dirty="0"/>
          </a:p>
        </p:txBody>
      </p:sp>
      <p:pic>
        <p:nvPicPr>
          <p:cNvPr id="34" name="Picture 33">
            <a:extLst>
              <a:ext uri="{FF2B5EF4-FFF2-40B4-BE49-F238E27FC236}">
                <a16:creationId xmlns:a16="http://schemas.microsoft.com/office/drawing/2014/main" id="{589FE550-27A3-8589-DF76-DAAEFA6DB816}"/>
              </a:ext>
            </a:extLst>
          </p:cNvPr>
          <p:cNvPicPr>
            <a:picLocks noChangeAspect="1"/>
          </p:cNvPicPr>
          <p:nvPr/>
        </p:nvPicPr>
        <p:blipFill>
          <a:blip r:embed="rId11"/>
          <a:stretch>
            <a:fillRect/>
          </a:stretch>
        </p:blipFill>
        <p:spPr>
          <a:xfrm>
            <a:off x="308987" y="1725501"/>
            <a:ext cx="7315200" cy="4229957"/>
          </a:xfrm>
          <a:prstGeom prst="rect">
            <a:avLst/>
          </a:prstGeom>
          <a:ln w="12700">
            <a:solidFill>
              <a:schemeClr val="tx1"/>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20624"/>
            <a:ext cx="9144000" cy="274320"/>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04   ·   KEY PERFORMANCE INDICATORS</a:t>
            </a:r>
            <a:endParaRPr lang="en-US" sz="1200" dirty="0"/>
          </a:p>
        </p:txBody>
      </p:sp>
      <p:sp>
        <p:nvSpPr>
          <p:cNvPr id="3" name="Text 1"/>
          <p:cNvSpPr/>
          <p:nvPr/>
        </p:nvSpPr>
        <p:spPr>
          <a:xfrm>
            <a:off x="548640" y="676656"/>
            <a:ext cx="9601200" cy="566928"/>
          </a:xfrm>
          <a:prstGeom prst="rect">
            <a:avLst/>
          </a:prstGeom>
          <a:noFill/>
          <a:ln/>
        </p:spPr>
        <p:txBody>
          <a:bodyPr wrap="square" lIns="0" tIns="0" rIns="0" bIns="0" rtlCol="0" anchor="ctr"/>
          <a:lstStyle/>
          <a:p>
            <a:pPr marL="0" indent="0">
              <a:buNone/>
            </a:pPr>
            <a:r>
              <a:rPr lang="en-US" sz="3000" b="1" dirty="0">
                <a:solidFill>
                  <a:srgbClr val="1B2A56"/>
                </a:solidFill>
                <a:latin typeface="Cambria" pitchFamily="34" charset="0"/>
                <a:ea typeface="Cambria" pitchFamily="34" charset="-122"/>
                <a:cs typeface="Cambria" pitchFamily="34" charset="-120"/>
              </a:rPr>
              <a:t>Dashboard KPIs</a:t>
            </a:r>
            <a:endParaRPr lang="en-US" sz="3000" dirty="0"/>
          </a:p>
        </p:txBody>
      </p:sp>
      <p:sp>
        <p:nvSpPr>
          <p:cNvPr id="4" name="Shape 2"/>
          <p:cNvSpPr/>
          <p:nvPr/>
        </p:nvSpPr>
        <p:spPr>
          <a:xfrm>
            <a:off x="548640" y="1691640"/>
            <a:ext cx="3484778" cy="2606040"/>
          </a:xfrm>
          <a:prstGeom prst="roundRect">
            <a:avLst>
              <a:gd name="adj" fmla="val 3158"/>
            </a:avLst>
          </a:prstGeom>
          <a:solidFill>
            <a:srgbClr val="FFFFFF"/>
          </a:solidFill>
          <a:ln/>
          <a:effectLst>
            <a:outerShdw blurRad="114300" dist="38100" dir="5400000" algn="bl" rotWithShape="0">
              <a:srgbClr val="1B2A56">
                <a:alpha val="10000"/>
              </a:srgbClr>
            </a:outerShdw>
          </a:effectLst>
        </p:spPr>
      </p:sp>
      <p:sp>
        <p:nvSpPr>
          <p:cNvPr id="5" name="Shape 3"/>
          <p:cNvSpPr/>
          <p:nvPr/>
        </p:nvSpPr>
        <p:spPr>
          <a:xfrm>
            <a:off x="1916125" y="1975104"/>
            <a:ext cx="749808" cy="749808"/>
          </a:xfrm>
          <a:prstGeom prst="ellipse">
            <a:avLst/>
          </a:prstGeom>
          <a:solidFill>
            <a:srgbClr val="12A594"/>
          </a:solidFill>
          <a:ln/>
        </p:spPr>
      </p:sp>
      <p:pic>
        <p:nvPicPr>
          <p:cNvPr id="6" name="Image 0" descr="preencoded.png"/>
          <p:cNvPicPr>
            <a:picLocks noChangeAspect="1"/>
          </p:cNvPicPr>
          <p:nvPr/>
        </p:nvPicPr>
        <p:blipFill>
          <a:blip r:embed="rId3"/>
          <a:stretch>
            <a:fillRect/>
          </a:stretch>
        </p:blipFill>
        <p:spPr>
          <a:xfrm>
            <a:off x="2111075" y="2170054"/>
            <a:ext cx="359908" cy="359908"/>
          </a:xfrm>
          <a:prstGeom prst="rect">
            <a:avLst/>
          </a:prstGeom>
        </p:spPr>
      </p:pic>
      <p:sp>
        <p:nvSpPr>
          <p:cNvPr id="7" name="Text 4"/>
          <p:cNvSpPr/>
          <p:nvPr/>
        </p:nvSpPr>
        <p:spPr>
          <a:xfrm>
            <a:off x="548640" y="2807208"/>
            <a:ext cx="3484778" cy="822960"/>
          </a:xfrm>
          <a:prstGeom prst="rect">
            <a:avLst/>
          </a:prstGeom>
          <a:noFill/>
          <a:ln/>
        </p:spPr>
        <p:txBody>
          <a:bodyPr wrap="square" lIns="0" tIns="0" rIns="0" bIns="0" rtlCol="0" anchor="ctr"/>
          <a:lstStyle/>
          <a:p>
            <a:pPr marL="0" indent="0" algn="ctr">
              <a:buNone/>
            </a:pPr>
            <a:r>
              <a:rPr lang="en-US" sz="4600" b="1" dirty="0">
                <a:solidFill>
                  <a:srgbClr val="1B2A56"/>
                </a:solidFill>
                <a:latin typeface="Cambria" pitchFamily="34" charset="0"/>
                <a:ea typeface="Cambria" pitchFamily="34" charset="-122"/>
                <a:cs typeface="Cambria" pitchFamily="34" charset="-120"/>
              </a:rPr>
              <a:t>2.30M</a:t>
            </a:r>
            <a:endParaRPr lang="en-US" sz="4600" dirty="0"/>
          </a:p>
        </p:txBody>
      </p:sp>
      <p:sp>
        <p:nvSpPr>
          <p:cNvPr id="8" name="Text 5"/>
          <p:cNvSpPr/>
          <p:nvPr/>
        </p:nvSpPr>
        <p:spPr>
          <a:xfrm>
            <a:off x="685800" y="3685032"/>
            <a:ext cx="3210458" cy="411480"/>
          </a:xfrm>
          <a:prstGeom prst="rect">
            <a:avLst/>
          </a:prstGeom>
          <a:noFill/>
          <a:ln/>
        </p:spPr>
        <p:txBody>
          <a:bodyPr wrap="square" lIns="0" tIns="0" rIns="0" bIns="0" rtlCol="0" anchor="ctr"/>
          <a:lstStyle/>
          <a:p>
            <a:pPr marL="0" indent="0" algn="ctr">
              <a:buNone/>
            </a:pPr>
            <a:r>
              <a:rPr lang="en-US" sz="1050" b="1" kern="0" spc="100" dirty="0">
                <a:solidFill>
                  <a:srgbClr val="64748B"/>
                </a:solidFill>
                <a:latin typeface="Calibri" pitchFamily="34" charset="0"/>
                <a:ea typeface="Calibri" pitchFamily="34" charset="-122"/>
                <a:cs typeface="Calibri" pitchFamily="34" charset="-120"/>
              </a:rPr>
              <a:t>TOTAL SALES (2014–2017)</a:t>
            </a:r>
            <a:endParaRPr lang="en-US" sz="1050" dirty="0"/>
          </a:p>
        </p:txBody>
      </p:sp>
      <p:sp>
        <p:nvSpPr>
          <p:cNvPr id="9" name="Shape 6"/>
          <p:cNvSpPr/>
          <p:nvPr/>
        </p:nvSpPr>
        <p:spPr>
          <a:xfrm>
            <a:off x="4353458" y="1691640"/>
            <a:ext cx="3484778" cy="2606040"/>
          </a:xfrm>
          <a:prstGeom prst="roundRect">
            <a:avLst>
              <a:gd name="adj" fmla="val 3158"/>
            </a:avLst>
          </a:prstGeom>
          <a:solidFill>
            <a:srgbClr val="FFFFFF"/>
          </a:solidFill>
          <a:ln/>
          <a:effectLst>
            <a:outerShdw blurRad="114300" dist="38100" dir="5400000" algn="bl" rotWithShape="0">
              <a:srgbClr val="1B2A56">
                <a:alpha val="10000"/>
              </a:srgbClr>
            </a:outerShdw>
          </a:effectLst>
        </p:spPr>
      </p:sp>
      <p:sp>
        <p:nvSpPr>
          <p:cNvPr id="10" name="Shape 7"/>
          <p:cNvSpPr/>
          <p:nvPr/>
        </p:nvSpPr>
        <p:spPr>
          <a:xfrm>
            <a:off x="5720944" y="1975104"/>
            <a:ext cx="749808" cy="749808"/>
          </a:xfrm>
          <a:prstGeom prst="ellipse">
            <a:avLst/>
          </a:prstGeom>
          <a:solidFill>
            <a:srgbClr val="8B5FBF"/>
          </a:solidFill>
          <a:ln/>
        </p:spPr>
      </p:sp>
      <p:pic>
        <p:nvPicPr>
          <p:cNvPr id="11" name="Image 1" descr="preencoded.png"/>
          <p:cNvPicPr>
            <a:picLocks noChangeAspect="1"/>
          </p:cNvPicPr>
          <p:nvPr/>
        </p:nvPicPr>
        <p:blipFill>
          <a:blip r:embed="rId4"/>
          <a:stretch>
            <a:fillRect/>
          </a:stretch>
        </p:blipFill>
        <p:spPr>
          <a:xfrm>
            <a:off x="5915894" y="2170054"/>
            <a:ext cx="359908" cy="359908"/>
          </a:xfrm>
          <a:prstGeom prst="rect">
            <a:avLst/>
          </a:prstGeom>
        </p:spPr>
      </p:pic>
      <p:sp>
        <p:nvSpPr>
          <p:cNvPr id="12" name="Text 8"/>
          <p:cNvSpPr/>
          <p:nvPr/>
        </p:nvSpPr>
        <p:spPr>
          <a:xfrm>
            <a:off x="4353458" y="2807208"/>
            <a:ext cx="3484778" cy="822960"/>
          </a:xfrm>
          <a:prstGeom prst="rect">
            <a:avLst/>
          </a:prstGeom>
          <a:noFill/>
          <a:ln/>
        </p:spPr>
        <p:txBody>
          <a:bodyPr wrap="square" lIns="0" tIns="0" rIns="0" bIns="0" rtlCol="0" anchor="ctr"/>
          <a:lstStyle/>
          <a:p>
            <a:pPr marL="0" indent="0" algn="ctr">
              <a:buNone/>
            </a:pPr>
            <a:r>
              <a:rPr lang="en-US" sz="4600" b="1" dirty="0">
                <a:solidFill>
                  <a:srgbClr val="1B2A56"/>
                </a:solidFill>
                <a:latin typeface="Cambria" pitchFamily="34" charset="0"/>
                <a:ea typeface="Cambria" pitchFamily="34" charset="-122"/>
                <a:cs typeface="Cambria" pitchFamily="34" charset="-120"/>
              </a:rPr>
              <a:t>286.41K</a:t>
            </a:r>
            <a:endParaRPr lang="en-US" sz="4600" dirty="0"/>
          </a:p>
        </p:txBody>
      </p:sp>
      <p:sp>
        <p:nvSpPr>
          <p:cNvPr id="13" name="Text 9"/>
          <p:cNvSpPr/>
          <p:nvPr/>
        </p:nvSpPr>
        <p:spPr>
          <a:xfrm>
            <a:off x="4490618" y="3685032"/>
            <a:ext cx="3210458" cy="411480"/>
          </a:xfrm>
          <a:prstGeom prst="rect">
            <a:avLst/>
          </a:prstGeom>
          <a:noFill/>
          <a:ln/>
        </p:spPr>
        <p:txBody>
          <a:bodyPr wrap="square" lIns="0" tIns="0" rIns="0" bIns="0" rtlCol="0" anchor="ctr"/>
          <a:lstStyle/>
          <a:p>
            <a:pPr marL="0" indent="0" algn="ctr">
              <a:buNone/>
            </a:pPr>
            <a:r>
              <a:rPr lang="en-US" sz="1050" b="1" kern="0" spc="100" dirty="0">
                <a:solidFill>
                  <a:srgbClr val="64748B"/>
                </a:solidFill>
                <a:latin typeface="Calibri" pitchFamily="34" charset="0"/>
                <a:ea typeface="Calibri" pitchFamily="34" charset="-122"/>
                <a:cs typeface="Calibri" pitchFamily="34" charset="-120"/>
              </a:rPr>
              <a:t>TOTAL PROFIT (2014–2017)</a:t>
            </a:r>
            <a:endParaRPr lang="en-US" sz="1050" dirty="0"/>
          </a:p>
        </p:txBody>
      </p:sp>
      <p:sp>
        <p:nvSpPr>
          <p:cNvPr id="14" name="Shape 10"/>
          <p:cNvSpPr/>
          <p:nvPr/>
        </p:nvSpPr>
        <p:spPr>
          <a:xfrm>
            <a:off x="8158277" y="1691640"/>
            <a:ext cx="3484778" cy="2606040"/>
          </a:xfrm>
          <a:prstGeom prst="roundRect">
            <a:avLst>
              <a:gd name="adj" fmla="val 3158"/>
            </a:avLst>
          </a:prstGeom>
          <a:solidFill>
            <a:srgbClr val="FFFFFF"/>
          </a:solidFill>
          <a:ln/>
          <a:effectLst>
            <a:outerShdw blurRad="114300" dist="38100" dir="5400000" algn="bl" rotWithShape="0">
              <a:srgbClr val="1B2A56">
                <a:alpha val="10000"/>
              </a:srgbClr>
            </a:outerShdw>
          </a:effectLst>
        </p:spPr>
      </p:sp>
      <p:sp>
        <p:nvSpPr>
          <p:cNvPr id="15" name="Shape 11"/>
          <p:cNvSpPr/>
          <p:nvPr/>
        </p:nvSpPr>
        <p:spPr>
          <a:xfrm>
            <a:off x="9525762" y="1975104"/>
            <a:ext cx="749808" cy="749808"/>
          </a:xfrm>
          <a:prstGeom prst="ellipse">
            <a:avLst/>
          </a:prstGeom>
          <a:solidFill>
            <a:srgbClr val="1B2A56"/>
          </a:solidFill>
          <a:ln/>
        </p:spPr>
      </p:sp>
      <p:pic>
        <p:nvPicPr>
          <p:cNvPr id="16" name="Image 2" descr="preencoded.png"/>
          <p:cNvPicPr>
            <a:picLocks noChangeAspect="1"/>
          </p:cNvPicPr>
          <p:nvPr/>
        </p:nvPicPr>
        <p:blipFill>
          <a:blip r:embed="rId5"/>
          <a:stretch>
            <a:fillRect/>
          </a:stretch>
        </p:blipFill>
        <p:spPr>
          <a:xfrm>
            <a:off x="9720712" y="2170054"/>
            <a:ext cx="359908" cy="359908"/>
          </a:xfrm>
          <a:prstGeom prst="rect">
            <a:avLst/>
          </a:prstGeom>
        </p:spPr>
      </p:pic>
      <p:sp>
        <p:nvSpPr>
          <p:cNvPr id="17" name="Text 12"/>
          <p:cNvSpPr/>
          <p:nvPr/>
        </p:nvSpPr>
        <p:spPr>
          <a:xfrm>
            <a:off x="8158277" y="2807208"/>
            <a:ext cx="3484778" cy="822960"/>
          </a:xfrm>
          <a:prstGeom prst="rect">
            <a:avLst/>
          </a:prstGeom>
          <a:noFill/>
          <a:ln/>
        </p:spPr>
        <p:txBody>
          <a:bodyPr wrap="square" lIns="0" tIns="0" rIns="0" bIns="0" rtlCol="0" anchor="ctr"/>
          <a:lstStyle/>
          <a:p>
            <a:pPr marL="0" indent="0" algn="ctr">
              <a:buNone/>
            </a:pPr>
            <a:r>
              <a:rPr lang="en-US" sz="4600" b="1" dirty="0">
                <a:solidFill>
                  <a:srgbClr val="1B2A56"/>
                </a:solidFill>
                <a:latin typeface="Cambria" pitchFamily="34" charset="0"/>
                <a:ea typeface="Cambria" pitchFamily="34" charset="-122"/>
                <a:cs typeface="Cambria" pitchFamily="34" charset="-120"/>
              </a:rPr>
              <a:t>38K</a:t>
            </a:r>
            <a:endParaRPr lang="en-US" sz="4600" dirty="0"/>
          </a:p>
        </p:txBody>
      </p:sp>
      <p:sp>
        <p:nvSpPr>
          <p:cNvPr id="18" name="Text 13"/>
          <p:cNvSpPr/>
          <p:nvPr/>
        </p:nvSpPr>
        <p:spPr>
          <a:xfrm>
            <a:off x="8295437" y="3685032"/>
            <a:ext cx="3210458" cy="411480"/>
          </a:xfrm>
          <a:prstGeom prst="rect">
            <a:avLst/>
          </a:prstGeom>
          <a:noFill/>
          <a:ln/>
        </p:spPr>
        <p:txBody>
          <a:bodyPr wrap="square" lIns="0" tIns="0" rIns="0" bIns="0" rtlCol="0" anchor="ctr"/>
          <a:lstStyle/>
          <a:p>
            <a:pPr marL="0" indent="0" algn="ctr">
              <a:buNone/>
            </a:pPr>
            <a:r>
              <a:rPr lang="en-US" sz="1050" b="1" kern="0" spc="100" dirty="0">
                <a:solidFill>
                  <a:srgbClr val="64748B"/>
                </a:solidFill>
                <a:latin typeface="Calibri" pitchFamily="34" charset="0"/>
                <a:ea typeface="Calibri" pitchFamily="34" charset="-122"/>
                <a:cs typeface="Calibri" pitchFamily="34" charset="-120"/>
              </a:rPr>
              <a:t>TOTAL QUANTITY (2014–2017)</a:t>
            </a:r>
            <a:endParaRPr lang="en-US" sz="1050" dirty="0"/>
          </a:p>
        </p:txBody>
      </p:sp>
      <p:sp>
        <p:nvSpPr>
          <p:cNvPr id="19" name="Shape 14"/>
          <p:cNvSpPr/>
          <p:nvPr/>
        </p:nvSpPr>
        <p:spPr>
          <a:xfrm>
            <a:off x="548640" y="4572000"/>
            <a:ext cx="11094415" cy="1005840"/>
          </a:xfrm>
          <a:prstGeom prst="roundRect">
            <a:avLst>
              <a:gd name="adj" fmla="val 8182"/>
            </a:avLst>
          </a:prstGeom>
          <a:solidFill>
            <a:srgbClr val="E3F7F4"/>
          </a:solidFill>
          <a:ln/>
        </p:spPr>
      </p:sp>
      <p:sp>
        <p:nvSpPr>
          <p:cNvPr id="20" name="Shape 15"/>
          <p:cNvSpPr/>
          <p:nvPr/>
        </p:nvSpPr>
        <p:spPr>
          <a:xfrm>
            <a:off x="905256" y="4791456"/>
            <a:ext cx="566928" cy="566928"/>
          </a:xfrm>
          <a:prstGeom prst="ellipse">
            <a:avLst/>
          </a:prstGeom>
          <a:solidFill>
            <a:srgbClr val="12A594"/>
          </a:solidFill>
          <a:ln/>
        </p:spPr>
      </p:sp>
      <p:pic>
        <p:nvPicPr>
          <p:cNvPr id="21" name="Image 3" descr="preencoded.png"/>
          <p:cNvPicPr>
            <a:picLocks noChangeAspect="1"/>
          </p:cNvPicPr>
          <p:nvPr/>
        </p:nvPicPr>
        <p:blipFill>
          <a:blip r:embed="rId6"/>
          <a:stretch>
            <a:fillRect/>
          </a:stretch>
        </p:blipFill>
        <p:spPr>
          <a:xfrm>
            <a:off x="1052657" y="4938857"/>
            <a:ext cx="272125" cy="272125"/>
          </a:xfrm>
          <a:prstGeom prst="rect">
            <a:avLst/>
          </a:prstGeom>
        </p:spPr>
      </p:pic>
      <p:sp>
        <p:nvSpPr>
          <p:cNvPr id="22" name="Text 16"/>
          <p:cNvSpPr/>
          <p:nvPr/>
        </p:nvSpPr>
        <p:spPr>
          <a:xfrm>
            <a:off x="1600200" y="4572000"/>
            <a:ext cx="9814255" cy="1005840"/>
          </a:xfrm>
          <a:prstGeom prst="rect">
            <a:avLst/>
          </a:prstGeom>
          <a:noFill/>
          <a:ln/>
        </p:spPr>
        <p:txBody>
          <a:bodyPr wrap="square" lIns="0" tIns="0" rIns="0" bIns="0" rtlCol="0" anchor="ctr"/>
          <a:lstStyle/>
          <a:p>
            <a:pPr marL="0" indent="0">
              <a:buNone/>
            </a:pPr>
            <a:r>
              <a:rPr lang="en-US" sz="1400" b="1" dirty="0">
                <a:solidFill>
                  <a:srgbClr val="1B2A56"/>
                </a:solidFill>
                <a:latin typeface="Calibri" pitchFamily="34" charset="0"/>
                <a:ea typeface="Calibri" pitchFamily="34" charset="-122"/>
                <a:cs typeface="Calibri" pitchFamily="34" charset="-120"/>
              </a:rPr>
              <a:t>Purpose:  </a:t>
            </a:r>
            <a:r>
              <a:rPr lang="en-US" sz="1400" dirty="0">
                <a:solidFill>
                  <a:srgbClr val="1B2338"/>
                </a:solidFill>
                <a:latin typeface="Calibri" pitchFamily="34" charset="0"/>
                <a:ea typeface="Calibri" pitchFamily="34" charset="-122"/>
                <a:cs typeface="Calibri" pitchFamily="34" charset="-120"/>
              </a:rPr>
              <a:t>These KPIs provide a quick overview of the company's overall business performance.</a:t>
            </a:r>
            <a:endParaRPr lang="en-US" sz="1400" dirty="0"/>
          </a:p>
        </p:txBody>
      </p:sp>
      <p:sp>
        <p:nvSpPr>
          <p:cNvPr id="23" name="Text 17"/>
          <p:cNvSpPr/>
          <p:nvPr/>
        </p:nvSpPr>
        <p:spPr>
          <a:xfrm>
            <a:off x="548640" y="6492240"/>
            <a:ext cx="5486400" cy="23774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Superstore Sales Performance Dashboard</a:t>
            </a:r>
            <a:endParaRPr lang="en-US" sz="900" dirty="0"/>
          </a:p>
        </p:txBody>
      </p:sp>
      <p:sp>
        <p:nvSpPr>
          <p:cNvPr id="24" name="Text 18"/>
          <p:cNvSpPr/>
          <p:nvPr/>
        </p:nvSpPr>
        <p:spPr>
          <a:xfrm>
            <a:off x="10451592" y="6492240"/>
            <a:ext cx="118872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05 / 09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20624"/>
            <a:ext cx="9144000" cy="274320"/>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05   ·   DASHBOARD ANALYSIS</a:t>
            </a:r>
            <a:endParaRPr lang="en-US" sz="1200" dirty="0"/>
          </a:p>
        </p:txBody>
      </p:sp>
      <p:sp>
        <p:nvSpPr>
          <p:cNvPr id="3" name="Text 1"/>
          <p:cNvSpPr/>
          <p:nvPr/>
        </p:nvSpPr>
        <p:spPr>
          <a:xfrm>
            <a:off x="548640" y="676656"/>
            <a:ext cx="9601200" cy="566928"/>
          </a:xfrm>
          <a:prstGeom prst="rect">
            <a:avLst/>
          </a:prstGeom>
          <a:noFill/>
          <a:ln/>
        </p:spPr>
        <p:txBody>
          <a:bodyPr wrap="square" lIns="0" tIns="0" rIns="0" bIns="0" rtlCol="0" anchor="ctr"/>
          <a:lstStyle/>
          <a:p>
            <a:pPr marL="0" indent="0">
              <a:buNone/>
            </a:pPr>
            <a:r>
              <a:rPr lang="en-US" sz="3000" b="1" dirty="0">
                <a:solidFill>
                  <a:srgbClr val="1B2A56"/>
                </a:solidFill>
                <a:latin typeface="Cambria" pitchFamily="34" charset="0"/>
                <a:ea typeface="Cambria" pitchFamily="34" charset="-122"/>
                <a:cs typeface="Cambria" pitchFamily="34" charset="-120"/>
              </a:rPr>
              <a:t>Dashboard Analysis</a:t>
            </a:r>
            <a:endParaRPr lang="en-US" sz="3000" dirty="0"/>
          </a:p>
        </p:txBody>
      </p:sp>
      <p:sp>
        <p:nvSpPr>
          <p:cNvPr id="4" name="Shape 2"/>
          <p:cNvSpPr/>
          <p:nvPr/>
        </p:nvSpPr>
        <p:spPr>
          <a:xfrm>
            <a:off x="548640" y="1600200"/>
            <a:ext cx="5410048" cy="2217420"/>
          </a:xfrm>
          <a:prstGeom prst="roundRect">
            <a:avLst>
              <a:gd name="adj" fmla="val 3711"/>
            </a:avLst>
          </a:prstGeom>
          <a:solidFill>
            <a:srgbClr val="FFFFFF"/>
          </a:solidFill>
          <a:ln/>
          <a:effectLst>
            <a:outerShdw blurRad="114300" dist="38100" dir="5400000" algn="bl" rotWithShape="0">
              <a:srgbClr val="1B2A56">
                <a:alpha val="10000"/>
              </a:srgbClr>
            </a:outerShdw>
          </a:effectLst>
        </p:spPr>
      </p:sp>
      <p:sp>
        <p:nvSpPr>
          <p:cNvPr id="5" name="Shape 3"/>
          <p:cNvSpPr/>
          <p:nvPr/>
        </p:nvSpPr>
        <p:spPr>
          <a:xfrm>
            <a:off x="795528" y="1801368"/>
            <a:ext cx="512064" cy="512064"/>
          </a:xfrm>
          <a:prstGeom prst="ellipse">
            <a:avLst/>
          </a:prstGeom>
          <a:solidFill>
            <a:srgbClr val="12A594"/>
          </a:solidFill>
          <a:ln/>
        </p:spPr>
      </p:sp>
      <p:pic>
        <p:nvPicPr>
          <p:cNvPr id="6" name="Image 0" descr="preencoded.png"/>
          <p:cNvPicPr>
            <a:picLocks noChangeAspect="1"/>
          </p:cNvPicPr>
          <p:nvPr/>
        </p:nvPicPr>
        <p:blipFill>
          <a:blip r:embed="rId3"/>
          <a:stretch>
            <a:fillRect/>
          </a:stretch>
        </p:blipFill>
        <p:spPr>
          <a:xfrm>
            <a:off x="928665" y="1934505"/>
            <a:ext cx="245791" cy="245791"/>
          </a:xfrm>
          <a:prstGeom prst="rect">
            <a:avLst/>
          </a:prstGeom>
        </p:spPr>
      </p:pic>
      <p:sp>
        <p:nvSpPr>
          <p:cNvPr id="7" name="Text 4"/>
          <p:cNvSpPr/>
          <p:nvPr/>
        </p:nvSpPr>
        <p:spPr>
          <a:xfrm>
            <a:off x="1463040" y="1819656"/>
            <a:ext cx="4221328" cy="475488"/>
          </a:xfrm>
          <a:prstGeom prst="rect">
            <a:avLst/>
          </a:prstGeom>
          <a:noFill/>
          <a:ln/>
        </p:spPr>
        <p:txBody>
          <a:bodyPr wrap="square" lIns="0" tIns="0" rIns="0" bIns="0" rtlCol="0" anchor="ctr"/>
          <a:lstStyle/>
          <a:p>
            <a:pPr marL="0" indent="0">
              <a:buNone/>
            </a:pPr>
            <a:r>
              <a:rPr lang="en-US" sz="1650" b="1" dirty="0">
                <a:solidFill>
                  <a:srgbClr val="1B2A56"/>
                </a:solidFill>
                <a:latin typeface="Cambria" pitchFamily="34" charset="0"/>
                <a:ea typeface="Cambria" pitchFamily="34" charset="-122"/>
                <a:cs typeface="Cambria" pitchFamily="34" charset="-120"/>
              </a:rPr>
              <a:t>Sales Distribution</a:t>
            </a:r>
            <a:endParaRPr lang="en-US" sz="1650" dirty="0"/>
          </a:p>
        </p:txBody>
      </p:sp>
      <p:sp>
        <p:nvSpPr>
          <p:cNvPr id="8" name="Text 5"/>
          <p:cNvSpPr/>
          <p:nvPr/>
        </p:nvSpPr>
        <p:spPr>
          <a:xfrm>
            <a:off x="841248" y="2441448"/>
            <a:ext cx="4824832" cy="1211580"/>
          </a:xfrm>
          <a:prstGeom prst="rect">
            <a:avLst/>
          </a:prstGeom>
          <a:noFill/>
          <a:ln/>
        </p:spPr>
        <p:txBody>
          <a:bodyPr wrap="square" lIns="0" tIns="0" rIns="0" bIns="0" rtlCol="0" anchor="ctr"/>
          <a:lstStyle/>
          <a:p>
            <a:pPr marL="177800" indent="-177800">
              <a:spcAft>
                <a:spcPts val="800"/>
              </a:spcAft>
              <a:buSzPct val="100000"/>
              <a:buChar char="•"/>
            </a:pPr>
            <a:r>
              <a:rPr lang="en-US" sz="1250" dirty="0">
                <a:solidFill>
                  <a:srgbClr val="1B2338"/>
                </a:solidFill>
                <a:latin typeface="Calibri" pitchFamily="34" charset="0"/>
                <a:ea typeface="Calibri" pitchFamily="34" charset="-122"/>
                <a:cs typeface="Calibri" pitchFamily="34" charset="-120"/>
              </a:rPr>
              <a:t>Technology contributed the highest share of total sales.</a:t>
            </a:r>
            <a:endParaRPr lang="en-US" sz="1250" dirty="0"/>
          </a:p>
          <a:p>
            <a:pPr marL="177800" indent="-177800">
              <a:spcAft>
                <a:spcPts val="800"/>
              </a:spcAft>
              <a:buSzPct val="100000"/>
              <a:buChar char="•"/>
            </a:pPr>
            <a:r>
              <a:rPr lang="en-US" sz="1250" dirty="0">
                <a:solidFill>
                  <a:srgbClr val="1B2338"/>
                </a:solidFill>
                <a:latin typeface="Calibri" pitchFamily="34" charset="0"/>
                <a:ea typeface="Calibri" pitchFamily="34" charset="-122"/>
                <a:cs typeface="Calibri" pitchFamily="34" charset="-120"/>
              </a:rPr>
              <a:t>Furniture and Office Supplies also generated significant revenue.</a:t>
            </a:r>
            <a:endParaRPr lang="en-US" sz="1250" dirty="0"/>
          </a:p>
        </p:txBody>
      </p:sp>
      <p:sp>
        <p:nvSpPr>
          <p:cNvPr id="9" name="Shape 6"/>
          <p:cNvSpPr/>
          <p:nvPr/>
        </p:nvSpPr>
        <p:spPr>
          <a:xfrm>
            <a:off x="6233008" y="1600200"/>
            <a:ext cx="5410048" cy="2217420"/>
          </a:xfrm>
          <a:prstGeom prst="roundRect">
            <a:avLst>
              <a:gd name="adj" fmla="val 3711"/>
            </a:avLst>
          </a:prstGeom>
          <a:solidFill>
            <a:srgbClr val="FFFFFF"/>
          </a:solidFill>
          <a:ln/>
          <a:effectLst>
            <a:outerShdw blurRad="114300" dist="38100" dir="5400000" algn="bl" rotWithShape="0">
              <a:srgbClr val="1B2A56">
                <a:alpha val="10000"/>
              </a:srgbClr>
            </a:outerShdw>
          </a:effectLst>
        </p:spPr>
      </p:sp>
      <p:sp>
        <p:nvSpPr>
          <p:cNvPr id="10" name="Shape 7"/>
          <p:cNvSpPr/>
          <p:nvPr/>
        </p:nvSpPr>
        <p:spPr>
          <a:xfrm>
            <a:off x="6479896" y="1801368"/>
            <a:ext cx="512064" cy="512064"/>
          </a:xfrm>
          <a:prstGeom prst="ellipse">
            <a:avLst/>
          </a:prstGeom>
          <a:solidFill>
            <a:srgbClr val="1B2A56"/>
          </a:solidFill>
          <a:ln/>
        </p:spPr>
      </p:sp>
      <p:pic>
        <p:nvPicPr>
          <p:cNvPr id="11" name="Image 1" descr="preencoded.png"/>
          <p:cNvPicPr>
            <a:picLocks noChangeAspect="1"/>
          </p:cNvPicPr>
          <p:nvPr/>
        </p:nvPicPr>
        <p:blipFill>
          <a:blip r:embed="rId4"/>
          <a:stretch>
            <a:fillRect/>
          </a:stretch>
        </p:blipFill>
        <p:spPr>
          <a:xfrm>
            <a:off x="6613032" y="1934505"/>
            <a:ext cx="245791" cy="245791"/>
          </a:xfrm>
          <a:prstGeom prst="rect">
            <a:avLst/>
          </a:prstGeom>
        </p:spPr>
      </p:pic>
      <p:sp>
        <p:nvSpPr>
          <p:cNvPr id="12" name="Text 8"/>
          <p:cNvSpPr/>
          <p:nvPr/>
        </p:nvSpPr>
        <p:spPr>
          <a:xfrm>
            <a:off x="7147408" y="1819656"/>
            <a:ext cx="4221328" cy="475488"/>
          </a:xfrm>
          <a:prstGeom prst="rect">
            <a:avLst/>
          </a:prstGeom>
          <a:noFill/>
          <a:ln/>
        </p:spPr>
        <p:txBody>
          <a:bodyPr wrap="square" lIns="0" tIns="0" rIns="0" bIns="0" rtlCol="0" anchor="ctr"/>
          <a:lstStyle/>
          <a:p>
            <a:pPr marL="0" indent="0">
              <a:buNone/>
            </a:pPr>
            <a:r>
              <a:rPr lang="en-US" sz="1650" b="1" dirty="0">
                <a:solidFill>
                  <a:srgbClr val="1B2A56"/>
                </a:solidFill>
                <a:latin typeface="Cambria" pitchFamily="34" charset="0"/>
                <a:ea typeface="Cambria" pitchFamily="34" charset="-122"/>
                <a:cs typeface="Cambria" pitchFamily="34" charset="-120"/>
              </a:rPr>
              <a:t>Sales Trend</a:t>
            </a:r>
            <a:endParaRPr lang="en-US" sz="1650" dirty="0"/>
          </a:p>
        </p:txBody>
      </p:sp>
      <p:sp>
        <p:nvSpPr>
          <p:cNvPr id="13" name="Text 9"/>
          <p:cNvSpPr/>
          <p:nvPr/>
        </p:nvSpPr>
        <p:spPr>
          <a:xfrm>
            <a:off x="6525616" y="2441448"/>
            <a:ext cx="4824832" cy="1211580"/>
          </a:xfrm>
          <a:prstGeom prst="rect">
            <a:avLst/>
          </a:prstGeom>
          <a:noFill/>
          <a:ln/>
        </p:spPr>
        <p:txBody>
          <a:bodyPr wrap="square" lIns="0" tIns="0" rIns="0" bIns="0" rtlCol="0" anchor="ctr"/>
          <a:lstStyle/>
          <a:p>
            <a:pPr marL="177800" indent="-177800">
              <a:spcAft>
                <a:spcPts val="800"/>
              </a:spcAft>
              <a:buSzPct val="100000"/>
              <a:buChar char="•"/>
            </a:pPr>
            <a:r>
              <a:rPr lang="en-US" sz="1250" dirty="0">
                <a:solidFill>
                  <a:srgbClr val="1B2338"/>
                </a:solidFill>
                <a:latin typeface="Calibri" pitchFamily="34" charset="0"/>
                <a:ea typeface="Calibri" pitchFamily="34" charset="-122"/>
                <a:cs typeface="Calibri" pitchFamily="34" charset="-120"/>
              </a:rPr>
              <a:t>Sales increased steadily after 2015.</a:t>
            </a:r>
            <a:endParaRPr lang="en-US" sz="1250" dirty="0"/>
          </a:p>
          <a:p>
            <a:pPr marL="177800" indent="-177800">
              <a:spcAft>
                <a:spcPts val="800"/>
              </a:spcAft>
              <a:buSzPct val="100000"/>
              <a:buChar char="•"/>
            </a:pPr>
            <a:r>
              <a:rPr lang="en-US" sz="1250" dirty="0">
                <a:solidFill>
                  <a:srgbClr val="1B2338"/>
                </a:solidFill>
                <a:latin typeface="Calibri" pitchFamily="34" charset="0"/>
                <a:ea typeface="Calibri" pitchFamily="34" charset="-122"/>
                <a:cs typeface="Calibri" pitchFamily="34" charset="-120"/>
              </a:rPr>
              <a:t>Highest sales were recorded in 2017.</a:t>
            </a:r>
            <a:endParaRPr lang="en-US" sz="1250" dirty="0"/>
          </a:p>
        </p:txBody>
      </p:sp>
      <p:sp>
        <p:nvSpPr>
          <p:cNvPr id="14" name="Shape 10"/>
          <p:cNvSpPr/>
          <p:nvPr/>
        </p:nvSpPr>
        <p:spPr>
          <a:xfrm>
            <a:off x="548640" y="4091940"/>
            <a:ext cx="5410048" cy="2217420"/>
          </a:xfrm>
          <a:prstGeom prst="roundRect">
            <a:avLst>
              <a:gd name="adj" fmla="val 3711"/>
            </a:avLst>
          </a:prstGeom>
          <a:solidFill>
            <a:srgbClr val="FFFFFF"/>
          </a:solidFill>
          <a:ln/>
          <a:effectLst>
            <a:outerShdw blurRad="114300" dist="38100" dir="5400000" algn="bl" rotWithShape="0">
              <a:srgbClr val="1B2A56">
                <a:alpha val="10000"/>
              </a:srgbClr>
            </a:outerShdw>
          </a:effectLst>
        </p:spPr>
      </p:sp>
      <p:sp>
        <p:nvSpPr>
          <p:cNvPr id="15" name="Shape 11"/>
          <p:cNvSpPr/>
          <p:nvPr/>
        </p:nvSpPr>
        <p:spPr>
          <a:xfrm>
            <a:off x="795528" y="4293108"/>
            <a:ext cx="512064" cy="512064"/>
          </a:xfrm>
          <a:prstGeom prst="ellipse">
            <a:avLst/>
          </a:prstGeom>
          <a:solidFill>
            <a:srgbClr val="8B5FBF"/>
          </a:solidFill>
          <a:ln/>
        </p:spPr>
      </p:sp>
      <p:pic>
        <p:nvPicPr>
          <p:cNvPr id="16" name="Image 2" descr="preencoded.png"/>
          <p:cNvPicPr>
            <a:picLocks noChangeAspect="1"/>
          </p:cNvPicPr>
          <p:nvPr/>
        </p:nvPicPr>
        <p:blipFill>
          <a:blip r:embed="rId5"/>
          <a:stretch>
            <a:fillRect/>
          </a:stretch>
        </p:blipFill>
        <p:spPr>
          <a:xfrm>
            <a:off x="928665" y="4426245"/>
            <a:ext cx="245791" cy="245791"/>
          </a:xfrm>
          <a:prstGeom prst="rect">
            <a:avLst/>
          </a:prstGeom>
        </p:spPr>
      </p:pic>
      <p:sp>
        <p:nvSpPr>
          <p:cNvPr id="17" name="Text 12"/>
          <p:cNvSpPr/>
          <p:nvPr/>
        </p:nvSpPr>
        <p:spPr>
          <a:xfrm>
            <a:off x="1463040" y="4311396"/>
            <a:ext cx="4221328" cy="475488"/>
          </a:xfrm>
          <a:prstGeom prst="rect">
            <a:avLst/>
          </a:prstGeom>
          <a:noFill/>
          <a:ln/>
        </p:spPr>
        <p:txBody>
          <a:bodyPr wrap="square" lIns="0" tIns="0" rIns="0" bIns="0" rtlCol="0" anchor="ctr"/>
          <a:lstStyle/>
          <a:p>
            <a:pPr marL="0" indent="0">
              <a:buNone/>
            </a:pPr>
            <a:r>
              <a:rPr lang="en-US" sz="1650" b="1" dirty="0">
                <a:solidFill>
                  <a:srgbClr val="1B2A56"/>
                </a:solidFill>
                <a:latin typeface="Cambria" pitchFamily="34" charset="0"/>
                <a:ea typeface="Cambria" pitchFamily="34" charset="-122"/>
                <a:cs typeface="Cambria" pitchFamily="34" charset="-120"/>
              </a:rPr>
              <a:t>Profit Analysis</a:t>
            </a:r>
            <a:endParaRPr lang="en-US" sz="1650" dirty="0"/>
          </a:p>
        </p:txBody>
      </p:sp>
      <p:sp>
        <p:nvSpPr>
          <p:cNvPr id="18" name="Text 13"/>
          <p:cNvSpPr/>
          <p:nvPr/>
        </p:nvSpPr>
        <p:spPr>
          <a:xfrm>
            <a:off x="841248" y="4933188"/>
            <a:ext cx="4824832" cy="1211580"/>
          </a:xfrm>
          <a:prstGeom prst="rect">
            <a:avLst/>
          </a:prstGeom>
          <a:noFill/>
          <a:ln/>
        </p:spPr>
        <p:txBody>
          <a:bodyPr wrap="square" lIns="0" tIns="0" rIns="0" bIns="0" rtlCol="0" anchor="ctr"/>
          <a:lstStyle/>
          <a:p>
            <a:pPr marL="177800" indent="-177800">
              <a:spcAft>
                <a:spcPts val="800"/>
              </a:spcAft>
              <a:buSzPct val="100000"/>
              <a:buChar char="•"/>
            </a:pPr>
            <a:r>
              <a:rPr lang="en-US" sz="1250" dirty="0">
                <a:solidFill>
                  <a:srgbClr val="1B2338"/>
                </a:solidFill>
                <a:latin typeface="Calibri" pitchFamily="34" charset="0"/>
                <a:ea typeface="Calibri" pitchFamily="34" charset="-122"/>
                <a:cs typeface="Calibri" pitchFamily="34" charset="-120"/>
              </a:rPr>
              <a:t>Copiers generated the highest profit.</a:t>
            </a:r>
            <a:endParaRPr lang="en-US" sz="1250" dirty="0"/>
          </a:p>
          <a:p>
            <a:pPr marL="177800" indent="-177800">
              <a:spcAft>
                <a:spcPts val="800"/>
              </a:spcAft>
              <a:buSzPct val="100000"/>
              <a:buChar char="•"/>
            </a:pPr>
            <a:r>
              <a:rPr lang="en-US" sz="1250" dirty="0">
                <a:solidFill>
                  <a:srgbClr val="1B2338"/>
                </a:solidFill>
                <a:latin typeface="Calibri" pitchFamily="34" charset="0"/>
                <a:ea typeface="Calibri" pitchFamily="34" charset="-122"/>
                <a:cs typeface="Calibri" pitchFamily="34" charset="-120"/>
              </a:rPr>
              <a:t>Tables and Bookcases showed comparatively lower profitability.</a:t>
            </a:r>
            <a:endParaRPr lang="en-US" sz="1250" dirty="0"/>
          </a:p>
        </p:txBody>
      </p:sp>
      <p:sp>
        <p:nvSpPr>
          <p:cNvPr id="19" name="Shape 14"/>
          <p:cNvSpPr/>
          <p:nvPr/>
        </p:nvSpPr>
        <p:spPr>
          <a:xfrm>
            <a:off x="6233008" y="4091940"/>
            <a:ext cx="5410048" cy="2217420"/>
          </a:xfrm>
          <a:prstGeom prst="roundRect">
            <a:avLst>
              <a:gd name="adj" fmla="val 3711"/>
            </a:avLst>
          </a:prstGeom>
          <a:solidFill>
            <a:srgbClr val="FFFFFF"/>
          </a:solidFill>
          <a:ln/>
          <a:effectLst>
            <a:outerShdw blurRad="114300" dist="38100" dir="5400000" algn="bl" rotWithShape="0">
              <a:srgbClr val="1B2A56">
                <a:alpha val="10000"/>
              </a:srgbClr>
            </a:outerShdw>
          </a:effectLst>
        </p:spPr>
      </p:sp>
      <p:sp>
        <p:nvSpPr>
          <p:cNvPr id="20" name="Shape 15"/>
          <p:cNvSpPr/>
          <p:nvPr/>
        </p:nvSpPr>
        <p:spPr>
          <a:xfrm>
            <a:off x="6479896" y="4293108"/>
            <a:ext cx="512064" cy="512064"/>
          </a:xfrm>
          <a:prstGeom prst="ellipse">
            <a:avLst/>
          </a:prstGeom>
          <a:solidFill>
            <a:srgbClr val="12A594"/>
          </a:solidFill>
          <a:ln/>
        </p:spPr>
      </p:sp>
      <p:pic>
        <p:nvPicPr>
          <p:cNvPr id="21" name="Image 3" descr="preencoded.png"/>
          <p:cNvPicPr>
            <a:picLocks noChangeAspect="1"/>
          </p:cNvPicPr>
          <p:nvPr/>
        </p:nvPicPr>
        <p:blipFill>
          <a:blip r:embed="rId6"/>
          <a:stretch>
            <a:fillRect/>
          </a:stretch>
        </p:blipFill>
        <p:spPr>
          <a:xfrm>
            <a:off x="6613032" y="4426245"/>
            <a:ext cx="245791" cy="245791"/>
          </a:xfrm>
          <a:prstGeom prst="rect">
            <a:avLst/>
          </a:prstGeom>
        </p:spPr>
      </p:pic>
      <p:sp>
        <p:nvSpPr>
          <p:cNvPr id="22" name="Text 16"/>
          <p:cNvSpPr/>
          <p:nvPr/>
        </p:nvSpPr>
        <p:spPr>
          <a:xfrm>
            <a:off x="7147408" y="4311396"/>
            <a:ext cx="4221328" cy="475488"/>
          </a:xfrm>
          <a:prstGeom prst="rect">
            <a:avLst/>
          </a:prstGeom>
          <a:noFill/>
          <a:ln/>
        </p:spPr>
        <p:txBody>
          <a:bodyPr wrap="square" lIns="0" tIns="0" rIns="0" bIns="0" rtlCol="0" anchor="ctr"/>
          <a:lstStyle/>
          <a:p>
            <a:pPr marL="0" indent="0">
              <a:buNone/>
            </a:pPr>
            <a:r>
              <a:rPr lang="en-US" sz="1650" b="1" dirty="0">
                <a:solidFill>
                  <a:srgbClr val="1B2A56"/>
                </a:solidFill>
                <a:latin typeface="Cambria" pitchFamily="34" charset="0"/>
                <a:ea typeface="Cambria" pitchFamily="34" charset="-122"/>
                <a:cs typeface="Cambria" pitchFamily="34" charset="-120"/>
              </a:rPr>
              <a:t>Regional Analysis</a:t>
            </a:r>
            <a:endParaRPr lang="en-US" sz="1650" dirty="0"/>
          </a:p>
        </p:txBody>
      </p:sp>
      <p:sp>
        <p:nvSpPr>
          <p:cNvPr id="23" name="Text 17"/>
          <p:cNvSpPr/>
          <p:nvPr/>
        </p:nvSpPr>
        <p:spPr>
          <a:xfrm>
            <a:off x="6525616" y="4933188"/>
            <a:ext cx="4824832" cy="1211580"/>
          </a:xfrm>
          <a:prstGeom prst="rect">
            <a:avLst/>
          </a:prstGeom>
          <a:noFill/>
          <a:ln/>
        </p:spPr>
        <p:txBody>
          <a:bodyPr wrap="square" lIns="0" tIns="0" rIns="0" bIns="0" rtlCol="0" anchor="ctr"/>
          <a:lstStyle/>
          <a:p>
            <a:pPr marL="177800" indent="-177800">
              <a:spcAft>
                <a:spcPts val="800"/>
              </a:spcAft>
              <a:buSzPct val="100000"/>
              <a:buChar char="•"/>
            </a:pPr>
            <a:r>
              <a:rPr lang="en-US" sz="1250" dirty="0">
                <a:solidFill>
                  <a:srgbClr val="1B2338"/>
                </a:solidFill>
                <a:latin typeface="Calibri" pitchFamily="34" charset="0"/>
                <a:ea typeface="Calibri" pitchFamily="34" charset="-122"/>
                <a:cs typeface="Calibri" pitchFamily="34" charset="-120"/>
              </a:rPr>
              <a:t>Interactive filters allow analysis by year and region.</a:t>
            </a:r>
            <a:endParaRPr lang="en-US" sz="1250" dirty="0"/>
          </a:p>
          <a:p>
            <a:pPr marL="177800" indent="-177800">
              <a:spcAft>
                <a:spcPts val="800"/>
              </a:spcAft>
              <a:buSzPct val="100000"/>
              <a:buChar char="•"/>
            </a:pPr>
            <a:r>
              <a:rPr lang="en-US" sz="1250" dirty="0">
                <a:solidFill>
                  <a:srgbClr val="1B2338"/>
                </a:solidFill>
                <a:latin typeface="Calibri" pitchFamily="34" charset="0"/>
                <a:ea typeface="Calibri" pitchFamily="34" charset="-122"/>
                <a:cs typeface="Calibri" pitchFamily="34" charset="-120"/>
              </a:rPr>
              <a:t>Enables drill-down across Central, East, South, and West regions.</a:t>
            </a:r>
            <a:endParaRPr lang="en-US" sz="1250" dirty="0"/>
          </a:p>
        </p:txBody>
      </p:sp>
      <p:sp>
        <p:nvSpPr>
          <p:cNvPr id="24" name="Text 18"/>
          <p:cNvSpPr/>
          <p:nvPr/>
        </p:nvSpPr>
        <p:spPr>
          <a:xfrm>
            <a:off x="548640" y="6492240"/>
            <a:ext cx="5486400" cy="23774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Superstore Sales Performance Dashboard</a:t>
            </a:r>
            <a:endParaRPr lang="en-US" sz="900" dirty="0"/>
          </a:p>
        </p:txBody>
      </p:sp>
      <p:sp>
        <p:nvSpPr>
          <p:cNvPr id="25" name="Text 19"/>
          <p:cNvSpPr/>
          <p:nvPr/>
        </p:nvSpPr>
        <p:spPr>
          <a:xfrm>
            <a:off x="10451592" y="6492240"/>
            <a:ext cx="118872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06 / 09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20624"/>
            <a:ext cx="9144000" cy="274320"/>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06   ·   KEY BUSINESS INSIGHTS</a:t>
            </a:r>
            <a:endParaRPr lang="en-US" sz="1200" dirty="0"/>
          </a:p>
        </p:txBody>
      </p:sp>
      <p:sp>
        <p:nvSpPr>
          <p:cNvPr id="3" name="Text 1"/>
          <p:cNvSpPr/>
          <p:nvPr/>
        </p:nvSpPr>
        <p:spPr>
          <a:xfrm>
            <a:off x="548640" y="676656"/>
            <a:ext cx="9601200" cy="566928"/>
          </a:xfrm>
          <a:prstGeom prst="rect">
            <a:avLst/>
          </a:prstGeom>
          <a:noFill/>
          <a:ln/>
        </p:spPr>
        <p:txBody>
          <a:bodyPr wrap="square" lIns="0" tIns="0" rIns="0" bIns="0" rtlCol="0" anchor="ctr"/>
          <a:lstStyle/>
          <a:p>
            <a:pPr marL="0" indent="0">
              <a:buNone/>
            </a:pPr>
            <a:r>
              <a:rPr lang="en-US" sz="3000" b="1" dirty="0">
                <a:solidFill>
                  <a:srgbClr val="1B2A56"/>
                </a:solidFill>
                <a:latin typeface="Cambria" pitchFamily="34" charset="0"/>
                <a:ea typeface="Cambria" pitchFamily="34" charset="-122"/>
                <a:cs typeface="Cambria" pitchFamily="34" charset="-120"/>
              </a:rPr>
              <a:t>Key Business Insights</a:t>
            </a:r>
            <a:endParaRPr lang="en-US" sz="3000" dirty="0"/>
          </a:p>
        </p:txBody>
      </p:sp>
      <p:sp>
        <p:nvSpPr>
          <p:cNvPr id="4" name="Shape 2"/>
          <p:cNvSpPr/>
          <p:nvPr/>
        </p:nvSpPr>
        <p:spPr>
          <a:xfrm>
            <a:off x="548640" y="1691640"/>
            <a:ext cx="11094415" cy="713232"/>
          </a:xfrm>
          <a:prstGeom prst="roundRect">
            <a:avLst>
              <a:gd name="adj" fmla="val 10256"/>
            </a:avLst>
          </a:prstGeom>
          <a:solidFill>
            <a:srgbClr val="FFFFFF"/>
          </a:solidFill>
          <a:ln/>
          <a:effectLst>
            <a:outerShdw blurRad="114300" dist="38100" dir="5400000" algn="bl" rotWithShape="0">
              <a:srgbClr val="1B2A56">
                <a:alpha val="10000"/>
              </a:srgbClr>
            </a:outerShdw>
          </a:effectLst>
        </p:spPr>
      </p:sp>
      <p:sp>
        <p:nvSpPr>
          <p:cNvPr id="5" name="Shape 3"/>
          <p:cNvSpPr/>
          <p:nvPr/>
        </p:nvSpPr>
        <p:spPr>
          <a:xfrm>
            <a:off x="914400" y="1792224"/>
            <a:ext cx="512064" cy="512064"/>
          </a:xfrm>
          <a:prstGeom prst="ellipse">
            <a:avLst/>
          </a:prstGeom>
          <a:solidFill>
            <a:srgbClr val="12A594"/>
          </a:solidFill>
          <a:ln/>
        </p:spPr>
      </p:sp>
      <p:pic>
        <p:nvPicPr>
          <p:cNvPr id="6" name="Image 0" descr="preencoded.png"/>
          <p:cNvPicPr>
            <a:picLocks noChangeAspect="1"/>
          </p:cNvPicPr>
          <p:nvPr/>
        </p:nvPicPr>
        <p:blipFill>
          <a:blip r:embed="rId3"/>
          <a:stretch>
            <a:fillRect/>
          </a:stretch>
        </p:blipFill>
        <p:spPr>
          <a:xfrm>
            <a:off x="1047537" y="1925361"/>
            <a:ext cx="245791" cy="245791"/>
          </a:xfrm>
          <a:prstGeom prst="rect">
            <a:avLst/>
          </a:prstGeom>
        </p:spPr>
      </p:pic>
      <p:sp>
        <p:nvSpPr>
          <p:cNvPr id="7" name="Text 4"/>
          <p:cNvSpPr/>
          <p:nvPr/>
        </p:nvSpPr>
        <p:spPr>
          <a:xfrm>
            <a:off x="548640" y="1691640"/>
            <a:ext cx="384048" cy="713232"/>
          </a:xfrm>
          <a:prstGeom prst="rect">
            <a:avLst/>
          </a:prstGeom>
          <a:noFill/>
          <a:ln/>
        </p:spPr>
        <p:txBody>
          <a:bodyPr wrap="square" lIns="0" tIns="0" rIns="0" bIns="0" rtlCol="0" anchor="ctr"/>
          <a:lstStyle/>
          <a:p>
            <a:pPr marL="0" indent="0" algn="ctr">
              <a:buNone/>
            </a:pPr>
            <a:r>
              <a:rPr lang="en-US" sz="1100" b="1" dirty="0">
                <a:solidFill>
                  <a:srgbClr val="64748B"/>
                </a:solidFill>
                <a:latin typeface="Cambria" pitchFamily="34" charset="0"/>
                <a:ea typeface="Cambria" pitchFamily="34" charset="-122"/>
                <a:cs typeface="Cambria" pitchFamily="34" charset="-120"/>
              </a:rPr>
              <a:t>1</a:t>
            </a:r>
            <a:endParaRPr lang="en-US" sz="1100" dirty="0"/>
          </a:p>
        </p:txBody>
      </p:sp>
      <p:sp>
        <p:nvSpPr>
          <p:cNvPr id="8" name="Text 5"/>
          <p:cNvSpPr/>
          <p:nvPr/>
        </p:nvSpPr>
        <p:spPr>
          <a:xfrm>
            <a:off x="1572768" y="1691640"/>
            <a:ext cx="9357055" cy="713232"/>
          </a:xfrm>
          <a:prstGeom prst="rect">
            <a:avLst/>
          </a:prstGeom>
          <a:noFill/>
          <a:ln/>
        </p:spPr>
        <p:txBody>
          <a:bodyPr wrap="square" lIns="0" tIns="0" rIns="0" bIns="0" rtlCol="0" anchor="ctr"/>
          <a:lstStyle/>
          <a:p>
            <a:pPr marL="0" indent="0">
              <a:buNone/>
            </a:pPr>
            <a:r>
              <a:rPr lang="en-US" sz="1500" dirty="0">
                <a:solidFill>
                  <a:srgbClr val="1B2338"/>
                </a:solidFill>
                <a:latin typeface="Calibri" pitchFamily="34" charset="0"/>
                <a:ea typeface="Calibri" pitchFamily="34" charset="-122"/>
                <a:cs typeface="Calibri" pitchFamily="34" charset="-120"/>
              </a:rPr>
              <a:t>Overall sales increased significantly after 2015.</a:t>
            </a:r>
            <a:endParaRPr lang="en-US" sz="1500" dirty="0"/>
          </a:p>
        </p:txBody>
      </p:sp>
      <p:sp>
        <p:nvSpPr>
          <p:cNvPr id="9" name="Shape 6"/>
          <p:cNvSpPr/>
          <p:nvPr/>
        </p:nvSpPr>
        <p:spPr>
          <a:xfrm>
            <a:off x="548640" y="2560320"/>
            <a:ext cx="11094415" cy="713232"/>
          </a:xfrm>
          <a:prstGeom prst="roundRect">
            <a:avLst>
              <a:gd name="adj" fmla="val 10256"/>
            </a:avLst>
          </a:prstGeom>
          <a:solidFill>
            <a:srgbClr val="FFFFFF"/>
          </a:solidFill>
          <a:ln/>
          <a:effectLst>
            <a:outerShdw blurRad="114300" dist="38100" dir="5400000" algn="bl" rotWithShape="0">
              <a:srgbClr val="1B2A56">
                <a:alpha val="10000"/>
              </a:srgbClr>
            </a:outerShdw>
          </a:effectLst>
        </p:spPr>
      </p:sp>
      <p:sp>
        <p:nvSpPr>
          <p:cNvPr id="10" name="Shape 7"/>
          <p:cNvSpPr/>
          <p:nvPr/>
        </p:nvSpPr>
        <p:spPr>
          <a:xfrm>
            <a:off x="914400" y="2660904"/>
            <a:ext cx="512064" cy="512064"/>
          </a:xfrm>
          <a:prstGeom prst="ellipse">
            <a:avLst/>
          </a:prstGeom>
          <a:solidFill>
            <a:srgbClr val="8B5FBF"/>
          </a:solidFill>
          <a:ln/>
        </p:spPr>
      </p:sp>
      <p:pic>
        <p:nvPicPr>
          <p:cNvPr id="11" name="Image 1" descr="preencoded.png"/>
          <p:cNvPicPr>
            <a:picLocks noChangeAspect="1"/>
          </p:cNvPicPr>
          <p:nvPr/>
        </p:nvPicPr>
        <p:blipFill>
          <a:blip r:embed="rId4"/>
          <a:stretch>
            <a:fillRect/>
          </a:stretch>
        </p:blipFill>
        <p:spPr>
          <a:xfrm>
            <a:off x="1047537" y="2794041"/>
            <a:ext cx="245791" cy="245791"/>
          </a:xfrm>
          <a:prstGeom prst="rect">
            <a:avLst/>
          </a:prstGeom>
        </p:spPr>
      </p:pic>
      <p:sp>
        <p:nvSpPr>
          <p:cNvPr id="12" name="Text 8"/>
          <p:cNvSpPr/>
          <p:nvPr/>
        </p:nvSpPr>
        <p:spPr>
          <a:xfrm>
            <a:off x="548640" y="2560320"/>
            <a:ext cx="384048" cy="713232"/>
          </a:xfrm>
          <a:prstGeom prst="rect">
            <a:avLst/>
          </a:prstGeom>
          <a:noFill/>
          <a:ln/>
        </p:spPr>
        <p:txBody>
          <a:bodyPr wrap="square" lIns="0" tIns="0" rIns="0" bIns="0" rtlCol="0" anchor="ctr"/>
          <a:lstStyle/>
          <a:p>
            <a:pPr marL="0" indent="0" algn="ctr">
              <a:buNone/>
            </a:pPr>
            <a:r>
              <a:rPr lang="en-US" sz="1100" b="1" dirty="0">
                <a:solidFill>
                  <a:srgbClr val="64748B"/>
                </a:solidFill>
                <a:latin typeface="Cambria" pitchFamily="34" charset="0"/>
                <a:ea typeface="Cambria" pitchFamily="34" charset="-122"/>
                <a:cs typeface="Cambria" pitchFamily="34" charset="-120"/>
              </a:rPr>
              <a:t>2</a:t>
            </a:r>
            <a:endParaRPr lang="en-US" sz="1100" dirty="0"/>
          </a:p>
        </p:txBody>
      </p:sp>
      <p:sp>
        <p:nvSpPr>
          <p:cNvPr id="13" name="Text 9"/>
          <p:cNvSpPr/>
          <p:nvPr/>
        </p:nvSpPr>
        <p:spPr>
          <a:xfrm>
            <a:off x="1572768" y="2560320"/>
            <a:ext cx="9357055" cy="713232"/>
          </a:xfrm>
          <a:prstGeom prst="rect">
            <a:avLst/>
          </a:prstGeom>
          <a:noFill/>
          <a:ln/>
        </p:spPr>
        <p:txBody>
          <a:bodyPr wrap="square" lIns="0" tIns="0" rIns="0" bIns="0" rtlCol="0" anchor="ctr"/>
          <a:lstStyle/>
          <a:p>
            <a:pPr marL="0" indent="0">
              <a:buNone/>
            </a:pPr>
            <a:r>
              <a:rPr lang="en-US" sz="1500" dirty="0">
                <a:solidFill>
                  <a:srgbClr val="1B2338"/>
                </a:solidFill>
                <a:latin typeface="Calibri" pitchFamily="34" charset="0"/>
                <a:ea typeface="Calibri" pitchFamily="34" charset="-122"/>
                <a:cs typeface="Calibri" pitchFamily="34" charset="-120"/>
              </a:rPr>
              <a:t>Technology category contributed the highest sales.</a:t>
            </a:r>
            <a:endParaRPr lang="en-US" sz="1500" dirty="0"/>
          </a:p>
        </p:txBody>
      </p:sp>
      <p:sp>
        <p:nvSpPr>
          <p:cNvPr id="14" name="Shape 10"/>
          <p:cNvSpPr/>
          <p:nvPr/>
        </p:nvSpPr>
        <p:spPr>
          <a:xfrm>
            <a:off x="548640" y="3429000"/>
            <a:ext cx="11094415" cy="713232"/>
          </a:xfrm>
          <a:prstGeom prst="roundRect">
            <a:avLst>
              <a:gd name="adj" fmla="val 10256"/>
            </a:avLst>
          </a:prstGeom>
          <a:solidFill>
            <a:srgbClr val="FFFFFF"/>
          </a:solidFill>
          <a:ln/>
          <a:effectLst>
            <a:outerShdw blurRad="114300" dist="38100" dir="5400000" algn="bl" rotWithShape="0">
              <a:srgbClr val="1B2A56">
                <a:alpha val="10000"/>
              </a:srgbClr>
            </a:outerShdw>
          </a:effectLst>
        </p:spPr>
      </p:sp>
      <p:sp>
        <p:nvSpPr>
          <p:cNvPr id="15" name="Shape 11"/>
          <p:cNvSpPr/>
          <p:nvPr/>
        </p:nvSpPr>
        <p:spPr>
          <a:xfrm>
            <a:off x="914400" y="3529584"/>
            <a:ext cx="512064" cy="512064"/>
          </a:xfrm>
          <a:prstGeom prst="ellipse">
            <a:avLst/>
          </a:prstGeom>
          <a:solidFill>
            <a:srgbClr val="1B2A56"/>
          </a:solidFill>
          <a:ln/>
        </p:spPr>
      </p:sp>
      <p:pic>
        <p:nvPicPr>
          <p:cNvPr id="16" name="Image 2" descr="preencoded.png"/>
          <p:cNvPicPr>
            <a:picLocks noChangeAspect="1"/>
          </p:cNvPicPr>
          <p:nvPr/>
        </p:nvPicPr>
        <p:blipFill>
          <a:blip r:embed="rId5"/>
          <a:stretch>
            <a:fillRect/>
          </a:stretch>
        </p:blipFill>
        <p:spPr>
          <a:xfrm>
            <a:off x="1047537" y="3662721"/>
            <a:ext cx="245791" cy="245791"/>
          </a:xfrm>
          <a:prstGeom prst="rect">
            <a:avLst/>
          </a:prstGeom>
        </p:spPr>
      </p:pic>
      <p:sp>
        <p:nvSpPr>
          <p:cNvPr id="17" name="Text 12"/>
          <p:cNvSpPr/>
          <p:nvPr/>
        </p:nvSpPr>
        <p:spPr>
          <a:xfrm>
            <a:off x="548640" y="3429000"/>
            <a:ext cx="384048" cy="713232"/>
          </a:xfrm>
          <a:prstGeom prst="rect">
            <a:avLst/>
          </a:prstGeom>
          <a:noFill/>
          <a:ln/>
        </p:spPr>
        <p:txBody>
          <a:bodyPr wrap="square" lIns="0" tIns="0" rIns="0" bIns="0" rtlCol="0" anchor="ctr"/>
          <a:lstStyle/>
          <a:p>
            <a:pPr marL="0" indent="0" algn="ctr">
              <a:buNone/>
            </a:pPr>
            <a:r>
              <a:rPr lang="en-US" sz="1100" b="1" dirty="0">
                <a:solidFill>
                  <a:srgbClr val="64748B"/>
                </a:solidFill>
                <a:latin typeface="Cambria" pitchFamily="34" charset="0"/>
                <a:ea typeface="Cambria" pitchFamily="34" charset="-122"/>
                <a:cs typeface="Cambria" pitchFamily="34" charset="-120"/>
              </a:rPr>
              <a:t>3</a:t>
            </a:r>
            <a:endParaRPr lang="en-US" sz="1100" dirty="0"/>
          </a:p>
        </p:txBody>
      </p:sp>
      <p:sp>
        <p:nvSpPr>
          <p:cNvPr id="18" name="Text 13"/>
          <p:cNvSpPr/>
          <p:nvPr/>
        </p:nvSpPr>
        <p:spPr>
          <a:xfrm>
            <a:off x="1572768" y="3429000"/>
            <a:ext cx="9357055" cy="713232"/>
          </a:xfrm>
          <a:prstGeom prst="rect">
            <a:avLst/>
          </a:prstGeom>
          <a:noFill/>
          <a:ln/>
        </p:spPr>
        <p:txBody>
          <a:bodyPr wrap="square" lIns="0" tIns="0" rIns="0" bIns="0" rtlCol="0" anchor="ctr"/>
          <a:lstStyle/>
          <a:p>
            <a:pPr marL="0" indent="0">
              <a:buNone/>
            </a:pPr>
            <a:r>
              <a:rPr lang="en-US" sz="1500" dirty="0">
                <a:solidFill>
                  <a:srgbClr val="1B2338"/>
                </a:solidFill>
                <a:latin typeface="Calibri" pitchFamily="34" charset="0"/>
                <a:ea typeface="Calibri" pitchFamily="34" charset="-122"/>
                <a:cs typeface="Calibri" pitchFamily="34" charset="-120"/>
              </a:rPr>
              <a:t>Profit growth remained lower than overall sales growth.</a:t>
            </a:r>
            <a:endParaRPr lang="en-US" sz="1500" dirty="0"/>
          </a:p>
        </p:txBody>
      </p:sp>
      <p:sp>
        <p:nvSpPr>
          <p:cNvPr id="19" name="Shape 14"/>
          <p:cNvSpPr/>
          <p:nvPr/>
        </p:nvSpPr>
        <p:spPr>
          <a:xfrm>
            <a:off x="548640" y="4297680"/>
            <a:ext cx="11094415" cy="713232"/>
          </a:xfrm>
          <a:prstGeom prst="roundRect">
            <a:avLst>
              <a:gd name="adj" fmla="val 10256"/>
            </a:avLst>
          </a:prstGeom>
          <a:solidFill>
            <a:srgbClr val="FFFFFF"/>
          </a:solidFill>
          <a:ln/>
          <a:effectLst>
            <a:outerShdw blurRad="114300" dist="38100" dir="5400000" algn="bl" rotWithShape="0">
              <a:srgbClr val="1B2A56">
                <a:alpha val="10000"/>
              </a:srgbClr>
            </a:outerShdw>
          </a:effectLst>
        </p:spPr>
      </p:sp>
      <p:sp>
        <p:nvSpPr>
          <p:cNvPr id="20" name="Shape 15"/>
          <p:cNvSpPr/>
          <p:nvPr/>
        </p:nvSpPr>
        <p:spPr>
          <a:xfrm>
            <a:off x="914400" y="4398264"/>
            <a:ext cx="512064" cy="512064"/>
          </a:xfrm>
          <a:prstGeom prst="ellipse">
            <a:avLst/>
          </a:prstGeom>
          <a:solidFill>
            <a:srgbClr val="12A594"/>
          </a:solidFill>
          <a:ln/>
        </p:spPr>
      </p:sp>
      <p:pic>
        <p:nvPicPr>
          <p:cNvPr id="21" name="Image 3" descr="preencoded.png"/>
          <p:cNvPicPr>
            <a:picLocks noChangeAspect="1"/>
          </p:cNvPicPr>
          <p:nvPr/>
        </p:nvPicPr>
        <p:blipFill>
          <a:blip r:embed="rId6"/>
          <a:stretch>
            <a:fillRect/>
          </a:stretch>
        </p:blipFill>
        <p:spPr>
          <a:xfrm>
            <a:off x="1047537" y="4531401"/>
            <a:ext cx="245791" cy="245791"/>
          </a:xfrm>
          <a:prstGeom prst="rect">
            <a:avLst/>
          </a:prstGeom>
        </p:spPr>
      </p:pic>
      <p:sp>
        <p:nvSpPr>
          <p:cNvPr id="22" name="Text 16"/>
          <p:cNvSpPr/>
          <p:nvPr/>
        </p:nvSpPr>
        <p:spPr>
          <a:xfrm>
            <a:off x="548640" y="4297680"/>
            <a:ext cx="384048" cy="713232"/>
          </a:xfrm>
          <a:prstGeom prst="rect">
            <a:avLst/>
          </a:prstGeom>
          <a:noFill/>
          <a:ln/>
        </p:spPr>
        <p:txBody>
          <a:bodyPr wrap="square" lIns="0" tIns="0" rIns="0" bIns="0" rtlCol="0" anchor="ctr"/>
          <a:lstStyle/>
          <a:p>
            <a:pPr marL="0" indent="0" algn="ctr">
              <a:buNone/>
            </a:pPr>
            <a:r>
              <a:rPr lang="en-US" sz="1100" b="1" dirty="0">
                <a:solidFill>
                  <a:srgbClr val="64748B"/>
                </a:solidFill>
                <a:latin typeface="Cambria" pitchFamily="34" charset="0"/>
                <a:ea typeface="Cambria" pitchFamily="34" charset="-122"/>
                <a:cs typeface="Cambria" pitchFamily="34" charset="-120"/>
              </a:rPr>
              <a:t>4</a:t>
            </a:r>
            <a:endParaRPr lang="en-US" sz="1100" dirty="0"/>
          </a:p>
        </p:txBody>
      </p:sp>
      <p:sp>
        <p:nvSpPr>
          <p:cNvPr id="23" name="Text 17"/>
          <p:cNvSpPr/>
          <p:nvPr/>
        </p:nvSpPr>
        <p:spPr>
          <a:xfrm>
            <a:off x="1572768" y="4297680"/>
            <a:ext cx="9357055" cy="713232"/>
          </a:xfrm>
          <a:prstGeom prst="rect">
            <a:avLst/>
          </a:prstGeom>
          <a:noFill/>
          <a:ln/>
        </p:spPr>
        <p:txBody>
          <a:bodyPr wrap="square" lIns="0" tIns="0" rIns="0" bIns="0" rtlCol="0" anchor="ctr"/>
          <a:lstStyle/>
          <a:p>
            <a:pPr marL="0" indent="0">
              <a:buNone/>
            </a:pPr>
            <a:r>
              <a:rPr lang="en-US" sz="1500" dirty="0">
                <a:solidFill>
                  <a:srgbClr val="1B2338"/>
                </a:solidFill>
                <a:latin typeface="Calibri" pitchFamily="34" charset="0"/>
                <a:ea typeface="Calibri" pitchFamily="34" charset="-122"/>
                <a:cs typeface="Calibri" pitchFamily="34" charset="-120"/>
              </a:rPr>
              <a:t>Some sub-categories require profitability improvement.</a:t>
            </a:r>
            <a:endParaRPr lang="en-US" sz="1500" dirty="0"/>
          </a:p>
        </p:txBody>
      </p:sp>
      <p:sp>
        <p:nvSpPr>
          <p:cNvPr id="24" name="Shape 18"/>
          <p:cNvSpPr/>
          <p:nvPr/>
        </p:nvSpPr>
        <p:spPr>
          <a:xfrm>
            <a:off x="548640" y="5166360"/>
            <a:ext cx="11094415" cy="713232"/>
          </a:xfrm>
          <a:prstGeom prst="roundRect">
            <a:avLst>
              <a:gd name="adj" fmla="val 10256"/>
            </a:avLst>
          </a:prstGeom>
          <a:solidFill>
            <a:srgbClr val="FFFFFF"/>
          </a:solidFill>
          <a:ln/>
          <a:effectLst>
            <a:outerShdw blurRad="114300" dist="38100" dir="5400000" algn="bl" rotWithShape="0">
              <a:srgbClr val="1B2A56">
                <a:alpha val="10000"/>
              </a:srgbClr>
            </a:outerShdw>
          </a:effectLst>
        </p:spPr>
      </p:sp>
      <p:sp>
        <p:nvSpPr>
          <p:cNvPr id="25" name="Shape 19"/>
          <p:cNvSpPr/>
          <p:nvPr/>
        </p:nvSpPr>
        <p:spPr>
          <a:xfrm>
            <a:off x="914400" y="5266944"/>
            <a:ext cx="512064" cy="512064"/>
          </a:xfrm>
          <a:prstGeom prst="ellipse">
            <a:avLst/>
          </a:prstGeom>
          <a:solidFill>
            <a:srgbClr val="8B5FBF"/>
          </a:solidFill>
          <a:ln/>
        </p:spPr>
      </p:sp>
      <p:pic>
        <p:nvPicPr>
          <p:cNvPr id="26" name="Image 4" descr="preencoded.png"/>
          <p:cNvPicPr>
            <a:picLocks noChangeAspect="1"/>
          </p:cNvPicPr>
          <p:nvPr/>
        </p:nvPicPr>
        <p:blipFill>
          <a:blip r:embed="rId7"/>
          <a:stretch>
            <a:fillRect/>
          </a:stretch>
        </p:blipFill>
        <p:spPr>
          <a:xfrm>
            <a:off x="1047537" y="5400081"/>
            <a:ext cx="245791" cy="245791"/>
          </a:xfrm>
          <a:prstGeom prst="rect">
            <a:avLst/>
          </a:prstGeom>
        </p:spPr>
      </p:pic>
      <p:sp>
        <p:nvSpPr>
          <p:cNvPr id="27" name="Text 20"/>
          <p:cNvSpPr/>
          <p:nvPr/>
        </p:nvSpPr>
        <p:spPr>
          <a:xfrm>
            <a:off x="548640" y="5166360"/>
            <a:ext cx="384048" cy="713232"/>
          </a:xfrm>
          <a:prstGeom prst="rect">
            <a:avLst/>
          </a:prstGeom>
          <a:noFill/>
          <a:ln/>
        </p:spPr>
        <p:txBody>
          <a:bodyPr wrap="square" lIns="0" tIns="0" rIns="0" bIns="0" rtlCol="0" anchor="ctr"/>
          <a:lstStyle/>
          <a:p>
            <a:pPr marL="0" indent="0" algn="ctr">
              <a:buNone/>
            </a:pPr>
            <a:r>
              <a:rPr lang="en-US" sz="1100" b="1" dirty="0">
                <a:solidFill>
                  <a:srgbClr val="64748B"/>
                </a:solidFill>
                <a:latin typeface="Cambria" pitchFamily="34" charset="0"/>
                <a:ea typeface="Cambria" pitchFamily="34" charset="-122"/>
                <a:cs typeface="Cambria" pitchFamily="34" charset="-120"/>
              </a:rPr>
              <a:t>5</a:t>
            </a:r>
            <a:endParaRPr lang="en-US" sz="1100" dirty="0"/>
          </a:p>
        </p:txBody>
      </p:sp>
      <p:sp>
        <p:nvSpPr>
          <p:cNvPr id="28" name="Text 21"/>
          <p:cNvSpPr/>
          <p:nvPr/>
        </p:nvSpPr>
        <p:spPr>
          <a:xfrm>
            <a:off x="1572768" y="5166360"/>
            <a:ext cx="9357055" cy="713232"/>
          </a:xfrm>
          <a:prstGeom prst="rect">
            <a:avLst/>
          </a:prstGeom>
          <a:noFill/>
          <a:ln/>
        </p:spPr>
        <p:txBody>
          <a:bodyPr wrap="square" lIns="0" tIns="0" rIns="0" bIns="0" rtlCol="0" anchor="ctr"/>
          <a:lstStyle/>
          <a:p>
            <a:pPr marL="0" indent="0">
              <a:buNone/>
            </a:pPr>
            <a:r>
              <a:rPr lang="en-US" sz="1500" dirty="0">
                <a:solidFill>
                  <a:srgbClr val="1B2338"/>
                </a:solidFill>
                <a:latin typeface="Calibri" pitchFamily="34" charset="0"/>
                <a:ea typeface="Calibri" pitchFamily="34" charset="-122"/>
                <a:cs typeface="Calibri" pitchFamily="34" charset="-120"/>
              </a:rPr>
              <a:t>Interactive dashboard enables faster business analysis and reporting.</a:t>
            </a:r>
            <a:endParaRPr lang="en-US" sz="1500" dirty="0"/>
          </a:p>
        </p:txBody>
      </p:sp>
      <p:sp>
        <p:nvSpPr>
          <p:cNvPr id="29" name="Text 22"/>
          <p:cNvSpPr/>
          <p:nvPr/>
        </p:nvSpPr>
        <p:spPr>
          <a:xfrm>
            <a:off x="548640" y="6492240"/>
            <a:ext cx="5486400" cy="23774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Superstore Sales Performance Dashboard</a:t>
            </a:r>
            <a:endParaRPr lang="en-US" sz="900" dirty="0"/>
          </a:p>
        </p:txBody>
      </p:sp>
      <p:sp>
        <p:nvSpPr>
          <p:cNvPr id="30" name="Text 23"/>
          <p:cNvSpPr/>
          <p:nvPr/>
        </p:nvSpPr>
        <p:spPr>
          <a:xfrm>
            <a:off x="10451592" y="6492240"/>
            <a:ext cx="118872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07 / 09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56"/>
        </a:solidFill>
        <a:effectLst/>
      </p:bgPr>
    </p:bg>
    <p:spTree>
      <p:nvGrpSpPr>
        <p:cNvPr id="1" name=""/>
        <p:cNvGrpSpPr/>
        <p:nvPr/>
      </p:nvGrpSpPr>
      <p:grpSpPr>
        <a:xfrm>
          <a:off x="0" y="0"/>
          <a:ext cx="0" cy="0"/>
          <a:chOff x="0" y="0"/>
          <a:chExt cx="0" cy="0"/>
        </a:xfrm>
      </p:grpSpPr>
      <p:sp>
        <p:nvSpPr>
          <p:cNvPr id="2" name="Shape 0"/>
          <p:cNvSpPr/>
          <p:nvPr/>
        </p:nvSpPr>
        <p:spPr>
          <a:xfrm>
            <a:off x="8840419" y="4405579"/>
            <a:ext cx="3424245" cy="2437790"/>
          </a:xfrm>
          <a:prstGeom prst="ellipse">
            <a:avLst/>
          </a:prstGeom>
          <a:solidFill>
            <a:srgbClr val="12A594">
              <a:alpha val="8000"/>
            </a:srgbClr>
          </a:solidFill>
          <a:ln/>
        </p:spPr>
      </p:sp>
      <p:sp>
        <p:nvSpPr>
          <p:cNvPr id="3" name="Shape 1"/>
          <p:cNvSpPr/>
          <p:nvPr/>
        </p:nvSpPr>
        <p:spPr>
          <a:xfrm>
            <a:off x="9464040" y="6106363"/>
            <a:ext cx="272125" cy="340157"/>
          </a:xfrm>
          <a:prstGeom prst="roundRect">
            <a:avLst>
              <a:gd name="adj" fmla="val 5208"/>
            </a:avLst>
          </a:prstGeom>
          <a:solidFill>
            <a:srgbClr val="12A594"/>
          </a:solidFill>
          <a:ln/>
        </p:spPr>
      </p:sp>
      <p:sp>
        <p:nvSpPr>
          <p:cNvPr id="4" name="Shape 2"/>
          <p:cNvSpPr/>
          <p:nvPr/>
        </p:nvSpPr>
        <p:spPr>
          <a:xfrm>
            <a:off x="9826874" y="5936285"/>
            <a:ext cx="272125" cy="510235"/>
          </a:xfrm>
          <a:prstGeom prst="roundRect">
            <a:avLst>
              <a:gd name="adj" fmla="val 5208"/>
            </a:avLst>
          </a:prstGeom>
          <a:solidFill>
            <a:srgbClr val="3A4A7A"/>
          </a:solidFill>
          <a:ln/>
        </p:spPr>
      </p:sp>
      <p:sp>
        <p:nvSpPr>
          <p:cNvPr id="5" name="Shape 3"/>
          <p:cNvSpPr/>
          <p:nvPr/>
        </p:nvSpPr>
        <p:spPr>
          <a:xfrm>
            <a:off x="10189708" y="5766206"/>
            <a:ext cx="272125" cy="680314"/>
          </a:xfrm>
          <a:prstGeom prst="roundRect">
            <a:avLst>
              <a:gd name="adj" fmla="val 5208"/>
            </a:avLst>
          </a:prstGeom>
          <a:solidFill>
            <a:srgbClr val="12A594"/>
          </a:solidFill>
          <a:ln/>
        </p:spPr>
      </p:sp>
      <p:sp>
        <p:nvSpPr>
          <p:cNvPr id="6" name="Shape 4"/>
          <p:cNvSpPr/>
          <p:nvPr/>
        </p:nvSpPr>
        <p:spPr>
          <a:xfrm>
            <a:off x="10552542" y="5539435"/>
            <a:ext cx="272125" cy="907085"/>
          </a:xfrm>
          <a:prstGeom prst="roundRect">
            <a:avLst>
              <a:gd name="adj" fmla="val 5208"/>
            </a:avLst>
          </a:prstGeom>
          <a:solidFill>
            <a:srgbClr val="3A4A7A"/>
          </a:solidFill>
          <a:ln/>
        </p:spPr>
      </p:sp>
      <p:sp>
        <p:nvSpPr>
          <p:cNvPr id="7" name="Shape 5"/>
          <p:cNvSpPr/>
          <p:nvPr/>
        </p:nvSpPr>
        <p:spPr>
          <a:xfrm>
            <a:off x="10915376" y="5312664"/>
            <a:ext cx="272125" cy="1133856"/>
          </a:xfrm>
          <a:prstGeom prst="roundRect">
            <a:avLst>
              <a:gd name="adj" fmla="val 5208"/>
            </a:avLst>
          </a:prstGeom>
          <a:solidFill>
            <a:srgbClr val="12A594"/>
          </a:solidFill>
          <a:ln/>
        </p:spPr>
      </p:sp>
      <p:sp>
        <p:nvSpPr>
          <p:cNvPr id="8" name="Shape 6"/>
          <p:cNvSpPr/>
          <p:nvPr/>
        </p:nvSpPr>
        <p:spPr>
          <a:xfrm>
            <a:off x="11278210" y="5029200"/>
            <a:ext cx="272125" cy="1417320"/>
          </a:xfrm>
          <a:prstGeom prst="roundRect">
            <a:avLst>
              <a:gd name="adj" fmla="val 5208"/>
            </a:avLst>
          </a:prstGeom>
          <a:solidFill>
            <a:srgbClr val="3A4A7A"/>
          </a:solidFill>
          <a:ln/>
        </p:spPr>
      </p:sp>
      <p:sp>
        <p:nvSpPr>
          <p:cNvPr id="9" name="Text 7"/>
          <p:cNvSpPr/>
          <p:nvPr/>
        </p:nvSpPr>
        <p:spPr>
          <a:xfrm>
            <a:off x="822960" y="566928"/>
            <a:ext cx="5486400" cy="292608"/>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07   ·   CONCLUSION</a:t>
            </a:r>
            <a:endParaRPr lang="en-US" sz="1200" dirty="0"/>
          </a:p>
        </p:txBody>
      </p:sp>
      <p:sp>
        <p:nvSpPr>
          <p:cNvPr id="10" name="Text 8"/>
          <p:cNvSpPr/>
          <p:nvPr/>
        </p:nvSpPr>
        <p:spPr>
          <a:xfrm>
            <a:off x="822960" y="841248"/>
            <a:ext cx="64008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pic>
        <p:nvPicPr>
          <p:cNvPr id="11" name="Image 0" descr="preencoded.png"/>
          <p:cNvPicPr>
            <a:picLocks noChangeAspect="1"/>
          </p:cNvPicPr>
          <p:nvPr/>
        </p:nvPicPr>
        <p:blipFill>
          <a:blip r:embed="rId3">
            <a:alphaModFix amt="85000"/>
          </a:blip>
          <a:stretch>
            <a:fillRect/>
          </a:stretch>
        </p:blipFill>
        <p:spPr>
          <a:xfrm>
            <a:off x="822960" y="1783080"/>
            <a:ext cx="548640" cy="548640"/>
          </a:xfrm>
          <a:prstGeom prst="rect">
            <a:avLst/>
          </a:prstGeom>
        </p:spPr>
      </p:pic>
      <p:sp>
        <p:nvSpPr>
          <p:cNvPr id="12" name="Text 9"/>
          <p:cNvSpPr/>
          <p:nvPr/>
        </p:nvSpPr>
        <p:spPr>
          <a:xfrm>
            <a:off x="822960" y="2423160"/>
            <a:ext cx="8686800" cy="2331720"/>
          </a:xfrm>
          <a:prstGeom prst="rect">
            <a:avLst/>
          </a:prstGeom>
          <a:noFill/>
          <a:ln/>
        </p:spPr>
        <p:txBody>
          <a:bodyPr wrap="square" lIns="0" tIns="0" rIns="0" bIns="0" rtlCol="0" anchor="ctr"/>
          <a:lstStyle/>
          <a:p>
            <a:pPr marL="0" indent="0">
              <a:lnSpc>
                <a:spcPts val="2800"/>
              </a:lnSpc>
              <a:buNone/>
            </a:pPr>
            <a:r>
              <a:rPr lang="en-US" sz="1900" i="1" dirty="0">
                <a:solidFill>
                  <a:srgbClr val="C6D0E4"/>
                </a:solidFill>
                <a:latin typeface="Cambria" pitchFamily="34" charset="0"/>
                <a:ea typeface="Cambria" pitchFamily="34" charset="-122"/>
                <a:cs typeface="Cambria" pitchFamily="34" charset="-120"/>
              </a:rPr>
              <a:t>The Superstore Sales Performance Dashboard provides an interactive and comprehensive view of sales performance, profitability, product categories, and regional sales trends. It enables users to monitor KPIs, identify profitable business areas, and support data-driven decision-making.</a:t>
            </a:r>
            <a:endParaRPr lang="en-US" sz="1900" dirty="0"/>
          </a:p>
        </p:txBody>
      </p:sp>
      <p:sp>
        <p:nvSpPr>
          <p:cNvPr id="13" name="Shape 10"/>
          <p:cNvSpPr/>
          <p:nvPr/>
        </p:nvSpPr>
        <p:spPr>
          <a:xfrm>
            <a:off x="822960" y="5120640"/>
            <a:ext cx="2615184" cy="512064"/>
          </a:xfrm>
          <a:prstGeom prst="roundRect">
            <a:avLst>
              <a:gd name="adj" fmla="val 50000"/>
            </a:avLst>
          </a:prstGeom>
          <a:solidFill>
            <a:srgbClr val="24345F"/>
          </a:solidFill>
          <a:ln w="12700">
            <a:solidFill>
              <a:srgbClr val="12A594"/>
            </a:solidFill>
            <a:prstDash val="solid"/>
          </a:ln>
        </p:spPr>
      </p:sp>
      <p:pic>
        <p:nvPicPr>
          <p:cNvPr id="14" name="Image 1" descr="preencoded.png"/>
          <p:cNvPicPr>
            <a:picLocks noChangeAspect="1"/>
          </p:cNvPicPr>
          <p:nvPr/>
        </p:nvPicPr>
        <p:blipFill>
          <a:blip r:embed="rId4"/>
          <a:stretch>
            <a:fillRect/>
          </a:stretch>
        </p:blipFill>
        <p:spPr>
          <a:xfrm>
            <a:off x="969264" y="5276088"/>
            <a:ext cx="201168" cy="201168"/>
          </a:xfrm>
          <a:prstGeom prst="rect">
            <a:avLst/>
          </a:prstGeom>
        </p:spPr>
      </p:pic>
      <p:sp>
        <p:nvSpPr>
          <p:cNvPr id="15" name="Text 11"/>
          <p:cNvSpPr/>
          <p:nvPr/>
        </p:nvSpPr>
        <p:spPr>
          <a:xfrm>
            <a:off x="1225296" y="5120640"/>
            <a:ext cx="2157984" cy="51206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Performance Monitoring</a:t>
            </a:r>
            <a:endParaRPr lang="en-US" sz="1150" dirty="0"/>
          </a:p>
        </p:txBody>
      </p:sp>
      <p:sp>
        <p:nvSpPr>
          <p:cNvPr id="16" name="Shape 12"/>
          <p:cNvSpPr/>
          <p:nvPr/>
        </p:nvSpPr>
        <p:spPr>
          <a:xfrm>
            <a:off x="3639312" y="5120640"/>
            <a:ext cx="2615184" cy="512064"/>
          </a:xfrm>
          <a:prstGeom prst="roundRect">
            <a:avLst>
              <a:gd name="adj" fmla="val 50000"/>
            </a:avLst>
          </a:prstGeom>
          <a:solidFill>
            <a:srgbClr val="24345F"/>
          </a:solidFill>
          <a:ln w="12700">
            <a:solidFill>
              <a:srgbClr val="12A594"/>
            </a:solidFill>
            <a:prstDash val="solid"/>
          </a:ln>
        </p:spPr>
      </p:sp>
      <p:pic>
        <p:nvPicPr>
          <p:cNvPr id="17" name="Image 2" descr="preencoded.png"/>
          <p:cNvPicPr>
            <a:picLocks noChangeAspect="1"/>
          </p:cNvPicPr>
          <p:nvPr/>
        </p:nvPicPr>
        <p:blipFill>
          <a:blip r:embed="rId4"/>
          <a:stretch>
            <a:fillRect/>
          </a:stretch>
        </p:blipFill>
        <p:spPr>
          <a:xfrm>
            <a:off x="3785616" y="5276088"/>
            <a:ext cx="201168" cy="201168"/>
          </a:xfrm>
          <a:prstGeom prst="rect">
            <a:avLst/>
          </a:prstGeom>
        </p:spPr>
      </p:pic>
      <p:sp>
        <p:nvSpPr>
          <p:cNvPr id="18" name="Text 13"/>
          <p:cNvSpPr/>
          <p:nvPr/>
        </p:nvSpPr>
        <p:spPr>
          <a:xfrm>
            <a:off x="4041648" y="5120640"/>
            <a:ext cx="2157984" cy="51206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Profitability Insights</a:t>
            </a:r>
            <a:endParaRPr lang="en-US" sz="1150" dirty="0"/>
          </a:p>
        </p:txBody>
      </p:sp>
      <p:sp>
        <p:nvSpPr>
          <p:cNvPr id="19" name="Shape 14"/>
          <p:cNvSpPr/>
          <p:nvPr/>
        </p:nvSpPr>
        <p:spPr>
          <a:xfrm>
            <a:off x="6455664" y="5120640"/>
            <a:ext cx="2519172" cy="512064"/>
          </a:xfrm>
          <a:prstGeom prst="roundRect">
            <a:avLst>
              <a:gd name="adj" fmla="val 50000"/>
            </a:avLst>
          </a:prstGeom>
          <a:solidFill>
            <a:srgbClr val="24345F"/>
          </a:solidFill>
          <a:ln w="12700">
            <a:solidFill>
              <a:srgbClr val="12A594"/>
            </a:solidFill>
            <a:prstDash val="solid"/>
          </a:ln>
        </p:spPr>
      </p:sp>
      <p:pic>
        <p:nvPicPr>
          <p:cNvPr id="20" name="Image 3" descr="preencoded.png"/>
          <p:cNvPicPr>
            <a:picLocks noChangeAspect="1"/>
          </p:cNvPicPr>
          <p:nvPr/>
        </p:nvPicPr>
        <p:blipFill>
          <a:blip r:embed="rId4"/>
          <a:stretch>
            <a:fillRect/>
          </a:stretch>
        </p:blipFill>
        <p:spPr>
          <a:xfrm>
            <a:off x="6601968" y="5276088"/>
            <a:ext cx="201168" cy="201168"/>
          </a:xfrm>
          <a:prstGeom prst="rect">
            <a:avLst/>
          </a:prstGeom>
        </p:spPr>
      </p:pic>
      <p:sp>
        <p:nvSpPr>
          <p:cNvPr id="21" name="Text 15"/>
          <p:cNvSpPr/>
          <p:nvPr/>
        </p:nvSpPr>
        <p:spPr>
          <a:xfrm>
            <a:off x="6858000" y="5120640"/>
            <a:ext cx="2061972" cy="51206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Data-Driven Decisions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56"/>
        </a:solidFill>
        <a:effectLst/>
      </p:bgPr>
    </p:bg>
    <p:spTree>
      <p:nvGrpSpPr>
        <p:cNvPr id="1" name=""/>
        <p:cNvGrpSpPr/>
        <p:nvPr/>
      </p:nvGrpSpPr>
      <p:grpSpPr>
        <a:xfrm>
          <a:off x="0" y="0"/>
          <a:ext cx="0" cy="0"/>
          <a:chOff x="0" y="0"/>
          <a:chExt cx="0" cy="0"/>
        </a:xfrm>
      </p:grpSpPr>
      <p:sp>
        <p:nvSpPr>
          <p:cNvPr id="2" name="Shape 0"/>
          <p:cNvSpPr/>
          <p:nvPr/>
        </p:nvSpPr>
        <p:spPr>
          <a:xfrm>
            <a:off x="4175608" y="1143000"/>
            <a:ext cx="3840480" cy="3840480"/>
          </a:xfrm>
          <a:prstGeom prst="ellipse">
            <a:avLst/>
          </a:prstGeom>
          <a:ln w="15875">
            <a:solidFill>
              <a:srgbClr val="12A594">
                <a:alpha val="45000"/>
              </a:srgbClr>
            </a:solidFill>
            <a:prstDash val="solid"/>
          </a:ln>
        </p:spPr>
      </p:sp>
      <p:sp>
        <p:nvSpPr>
          <p:cNvPr id="3" name="Shape 1"/>
          <p:cNvSpPr/>
          <p:nvPr/>
        </p:nvSpPr>
        <p:spPr>
          <a:xfrm>
            <a:off x="4678528" y="1645920"/>
            <a:ext cx="2834640" cy="2834640"/>
          </a:xfrm>
          <a:prstGeom prst="ellipse">
            <a:avLst/>
          </a:prstGeom>
          <a:ln w="15875">
            <a:solidFill>
              <a:srgbClr val="12A594">
                <a:alpha val="35000"/>
              </a:srgbClr>
            </a:solidFill>
            <a:prstDash val="solid"/>
          </a:ln>
        </p:spPr>
      </p:sp>
      <p:sp>
        <p:nvSpPr>
          <p:cNvPr id="4" name="Shape 2"/>
          <p:cNvSpPr/>
          <p:nvPr/>
        </p:nvSpPr>
        <p:spPr>
          <a:xfrm>
            <a:off x="5181448" y="2148840"/>
            <a:ext cx="1828800" cy="1828800"/>
          </a:xfrm>
          <a:prstGeom prst="ellipse">
            <a:avLst/>
          </a:prstGeom>
          <a:ln w="15875">
            <a:solidFill>
              <a:srgbClr val="8B5FBF">
                <a:alpha val="25000"/>
              </a:srgbClr>
            </a:solidFill>
            <a:prstDash val="solid"/>
          </a:ln>
        </p:spPr>
      </p:sp>
      <p:sp>
        <p:nvSpPr>
          <p:cNvPr id="5" name="Text 3"/>
          <p:cNvSpPr/>
          <p:nvPr/>
        </p:nvSpPr>
        <p:spPr>
          <a:xfrm>
            <a:off x="0" y="2468880"/>
            <a:ext cx="12191695" cy="1005840"/>
          </a:xfrm>
          <a:prstGeom prst="rect">
            <a:avLst/>
          </a:prstGeom>
          <a:noFill/>
          <a:ln/>
        </p:spPr>
        <p:txBody>
          <a:bodyPr wrap="square" lIns="0" tIns="0" rIns="0" bIns="0"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6" name="Text 4"/>
          <p:cNvSpPr/>
          <p:nvPr/>
        </p:nvSpPr>
        <p:spPr>
          <a:xfrm>
            <a:off x="0" y="3520440"/>
            <a:ext cx="12191695" cy="502920"/>
          </a:xfrm>
          <a:prstGeom prst="rect">
            <a:avLst/>
          </a:prstGeom>
          <a:noFill/>
          <a:ln/>
        </p:spPr>
        <p:txBody>
          <a:bodyPr wrap="square" lIns="0" tIns="0" rIns="0" bIns="0" rtlCol="0" anchor="ctr"/>
          <a:lstStyle/>
          <a:p>
            <a:pPr marL="0" indent="0" algn="ctr">
              <a:buNone/>
            </a:pPr>
            <a:r>
              <a:rPr lang="en-US" sz="1900" kern="0" spc="150" dirty="0">
                <a:solidFill>
                  <a:srgbClr val="12A594"/>
                </a:solidFill>
                <a:latin typeface="Calibri" pitchFamily="34" charset="0"/>
                <a:ea typeface="Calibri" pitchFamily="34" charset="-122"/>
                <a:cs typeface="Calibri" pitchFamily="34" charset="-120"/>
              </a:rPr>
              <a:t>Questions &amp; Discussion</a:t>
            </a:r>
            <a:endParaRPr lang="en-US" sz="1900" dirty="0"/>
          </a:p>
        </p:txBody>
      </p:sp>
      <p:sp>
        <p:nvSpPr>
          <p:cNvPr id="7" name="Text 5"/>
          <p:cNvSpPr/>
          <p:nvPr/>
        </p:nvSpPr>
        <p:spPr>
          <a:xfrm>
            <a:off x="0" y="6263640"/>
            <a:ext cx="12191695" cy="320040"/>
          </a:xfrm>
          <a:prstGeom prst="rect">
            <a:avLst/>
          </a:prstGeom>
          <a:noFill/>
          <a:ln/>
        </p:spPr>
        <p:txBody>
          <a:bodyPr wrap="square" lIns="0" tIns="0" rIns="0" bIns="0" rtlCol="0" anchor="ctr"/>
          <a:lstStyle/>
          <a:p>
            <a:pPr marL="0" indent="0" algn="ctr">
              <a:buNone/>
            </a:pPr>
            <a:r>
              <a:rPr lang="en-US" sz="1100" dirty="0">
                <a:solidFill>
                  <a:srgbClr val="C6D0E4"/>
                </a:solidFill>
                <a:latin typeface="Calibri" pitchFamily="34" charset="0"/>
                <a:ea typeface="Calibri" pitchFamily="34" charset="-122"/>
                <a:cs typeface="Calibri" pitchFamily="34" charset="-120"/>
              </a:rPr>
              <a:t>Tanishq   ·   Superstore Sales Performance Dashboard   ·   Microsoft Power BI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454</Words>
  <Application>Microsoft Office PowerPoint</Application>
  <PresentationFormat>Widescreen</PresentationFormat>
  <Paragraphs>122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Superstore Sales Performance Dashboard</dc:title>
  <dc:subject>PptxGenJS Presentation</dc:subject>
  <dc:creator>Tanishq</dc:creator>
  <cp:lastModifiedBy>Tanishq Nahar</cp:lastModifiedBy>
  <cp:revision>3</cp:revision>
  <dcterms:created xsi:type="dcterms:W3CDTF">2026-07-02T10:02:37Z</dcterms:created>
  <dcterms:modified xsi:type="dcterms:W3CDTF">2026-07-02T10:25:26Z</dcterms:modified>
</cp:coreProperties>
</file>